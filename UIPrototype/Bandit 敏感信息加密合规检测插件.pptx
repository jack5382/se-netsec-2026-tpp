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132" y="2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20.04.2026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err="1">
                <a:solidFill>
                  <a:srgbClr val="000000"/>
                </a:solidFill>
              </a:rPr>
              <a:t>大家好，今天我将向大家介绍一款旨在解决软件开发中常见安全隐患的工具</a:t>
            </a:r>
            <a:r>
              <a:rPr lang="en-US" sz="1400" b="0" i="0" u="none" strike="noStrike" dirty="0">
                <a:solidFill>
                  <a:srgbClr val="000000"/>
                </a:solidFill>
              </a:rPr>
              <a:t>——Bandit 敏感信息加密合规检测插件。在当今数字化时代，代码中的硬编码敏感信息，如API密钥、密码等，一旦泄露，可能导致灾难性的后果。我们的插件正是为了应对这一挑战而生，它能帮助开发者在编码阶段就发现并修复这些问题，真正做到让硬编码的敏感信息无处遁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本次介绍将分为五个部分。首先，我们将深入分析硬编码敏感信息所带来的巨大风险和痛点。接着，我会详细阐述我们插件的核心特性以及它相比原生工具的差异化优势。之后，我们会通过系统用例图和功能列表，展示插件的实际应用场景。第四部分将介绍我们的技术架构和项目里程碑。最后，对项目进行总结并展望未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让我们首先聚焦于问题的严重性。硬编码敏感信息是开发者最容易犯，也最容易忽视的错误，但它的代价却是极其高昂的。从开发者误提交密钥导致用户数据泄露，到运维因硬编码密码造成大规模信息窃取，再到企业面临千万级的合规罚款，这些都不是危言耸听。</a:t>
            </a:r>
          </a:p>
          <a:p>
            <a:pPr indent="0" algn="l">
              <a:lnSpc>
                <a:spcPct val="100000"/>
              </a:lnSpc>
            </a:pPr>
            <a:r>
              <a:rPr lang="en-US" sz="1400" b="0" i="0" u="none" strike="noStrike" dirty="0">
                <a:solidFill>
                  <a:srgbClr val="000000"/>
                </a:solidFill>
              </a:rPr>
              <a:t>数据显示，近四分之一的数据泄露事件与此相关，全球年损失高达百亿美元。更关键的是，现有的工具如Bandit原生规则，误报率居高不下，让开发者不胜其烦。</a:t>
            </a:r>
          </a:p>
          <a:p>
            <a:pPr indent="0" algn="l">
              <a:lnSpc>
                <a:spcPct val="100000"/>
              </a:lnSpc>
            </a:pPr>
            <a:r>
              <a:rPr lang="en-US" sz="1400" b="0" i="0" u="none" strike="noStrike" dirty="0">
                <a:solidFill>
                  <a:srgbClr val="000000"/>
                </a:solidFill>
              </a:rPr>
              <a:t>我们的目标就是用5分钟的提前检测，避免500万的巨大损失。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那么，我们的插件究竟好在哪里？这张对比表清晰地展示了我们与Bandit原生规则的三大核心差异。首先，我们通过AST深度遍历，将检测范围从简单的字符串扩展到了字典、列表等所有复杂数据结构。其次，我们独创的双引擎检测机制，将误报率从20%以上降低到了5%以内。最后，我们提供了强大的企业级可扩展性，支持YAML热加载自定义规则。这些特性共同构成了一个精准、智能且易于集成的解决方案，能够无缝融入您现有的开发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直观地展示插件的应用场景，我们绘制了这张系统用例图。可以看到，我们的插件服务于多种角色。对于Python开发者，它是日常编码的安全助手；对于DevOps工程师，它是CI/CD流水线中的关键一环；对于安全审计师和负责人，它提供了强大的审计和管理能力；同时，我们也为开源社区的贡献者提供了调试和扩展的接口。这种设计确保了插件能够在软件开发生命周期的各个阶段发挥作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的插件提供了八大核心功能，构成了一个完整的代码安全防护体系。其中，精准检测、高性能扫描、兼容性适配和基础使用是我们的核心交付内容，将在第10周完成。这些功能确保了插件的基础能力和用户体验。</a:t>
            </a:r>
          </a:p>
          <a:p>
            <a:pPr indent="0" algn="l">
              <a:lnSpc>
                <a:spcPct val="100000"/>
              </a:lnSpc>
            </a:pPr>
            <a:r>
              <a:rPr lang="en-US" sz="1400" b="0" i="0" u="none" strike="noStrike">
                <a:solidFill>
                  <a:srgbClr val="000000"/>
                </a:solidFill>
              </a:rPr>
              <a:t>在此之上，我们还规划了规则自定义、白名单过滤、扫描优化和辅助功能等扩展特性，将在第11周交付，以满足更复杂的企业级需求。每个功能都有明确的量化指标或价值定位，确保交付成果的质量。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插件的技术架构。我们基于Python的AST抽象语法树进行静态分析，结合正则匹配和熵值分析构建了强大的规则引擎。整个架构遵循面向对象设计原则，例如，所有具体的检测器都继承自BaseChecker基类，这使得扩展新的检测类型变得非常容易，完美符合开闭原则。同时，我们确保了与Bandit原有接口的兼容性，并将核心算法解耦为独立的工具类，保证了代码的健壮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为了确保项目质量，我们制定了明确的量化验收标准。无论是覆盖率、误报率、扫描速度还是兼容性，都有具体的数字目标和可操作的验收方式。这保证了我们交付的产品是高质量且可靠的。</a:t>
            </a:r>
          </a:p>
          <a:p>
            <a:pPr indent="0" algn="l">
              <a:lnSpc>
                <a:spcPct val="100000"/>
              </a:lnSpc>
            </a:pPr>
            <a:r>
              <a:rPr lang="en-US" sz="1400" b="0" i="0" u="none" strike="noStrike">
                <a:solidFill>
                  <a:srgbClr val="000000"/>
                </a:solidFill>
              </a:rPr>
              <a:t>同时，我们也制定了清晰的6周项目里程碑计划，从需求分析到最终交付，每个阶段的任务都明确清晰，确保项目能够按时、高质量地完成。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来说，我们的项目旨在将代码安全从“事后补救”转变为“事前预防”。对于开发者，它是一个简单易用的安全工具；对于企业，它是规避合规风险的重要保障；对于整个Python社区，它填补了现有工具的关键空白。</a:t>
            </a:r>
          </a:p>
          <a:p>
            <a:pPr indent="0" algn="l">
              <a:lnSpc>
                <a:spcPct val="100000"/>
              </a:lnSpc>
            </a:pPr>
            <a:r>
              <a:rPr lang="en-US" sz="1400" b="0" i="0" u="none" strike="noStrike">
                <a:solidFill>
                  <a:srgbClr val="000000"/>
                </a:solidFill>
              </a:rPr>
              <a:t>我们计划将此项目以Apache 2.0许可证开源，并积极回馈社区。我们相信，通过这6周的努力，我们将打造出一款真正让开发者安心、企业放心的代码安全检测利器。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jpeg"/><Relationship Id="rId7" Type="http://schemas.openxmlformats.org/officeDocument/2006/relationships/image" Target="../media/image12.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image" Target="../media/image2.jpeg"/><Relationship Id="rId7" Type="http://schemas.openxmlformats.org/officeDocument/2006/relationships/image" Target="../media/image18.svg"/><Relationship Id="rId12"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18" Type="http://schemas.openxmlformats.org/officeDocument/2006/relationships/image" Target="../media/image39.png"/><Relationship Id="rId3" Type="http://schemas.openxmlformats.org/officeDocument/2006/relationships/image" Target="../media/image2.jpeg"/><Relationship Id="rId7" Type="http://schemas.openxmlformats.org/officeDocument/2006/relationships/image" Target="../media/image28.svg"/><Relationship Id="rId12" Type="http://schemas.openxmlformats.org/officeDocument/2006/relationships/image" Target="../media/image33.png"/><Relationship Id="rId17" Type="http://schemas.openxmlformats.org/officeDocument/2006/relationships/image" Target="../media/image38.svg"/><Relationship Id="rId2" Type="http://schemas.openxmlformats.org/officeDocument/2006/relationships/notesSlide" Target="../notesSlides/notesSlide6.xml"/><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5" Type="http://schemas.openxmlformats.org/officeDocument/2006/relationships/image" Target="../media/image36.svg"/><Relationship Id="rId10" Type="http://schemas.openxmlformats.org/officeDocument/2006/relationships/image" Target="../media/image31.png"/><Relationship Id="rId19" Type="http://schemas.openxmlformats.org/officeDocument/2006/relationships/image" Target="../media/image40.svg"/><Relationship Id="rId4" Type="http://schemas.openxmlformats.org/officeDocument/2006/relationships/image" Target="../media/image25.png"/><Relationship Id="rId9" Type="http://schemas.openxmlformats.org/officeDocument/2006/relationships/image" Target="../media/image30.sv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jpeg"/><Relationship Id="rId7" Type="http://schemas.openxmlformats.org/officeDocument/2006/relationships/image" Target="../media/image44.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9" Type="http://schemas.openxmlformats.org/officeDocument/2006/relationships/image" Target="../media/image46.sv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openxmlformats.org/officeDocument/2006/relationships/image" Target="../media/image2.jpeg"/><Relationship Id="rId7" Type="http://schemas.openxmlformats.org/officeDocument/2006/relationships/image" Target="../media/image8.svg"/><Relationship Id="rId12"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52.svg"/><Relationship Id="rId5" Type="http://schemas.openxmlformats.org/officeDocument/2006/relationships/image" Target="../media/image48.svg"/><Relationship Id="rId10" Type="http://schemas.openxmlformats.org/officeDocument/2006/relationships/image" Target="../media/image51.png"/><Relationship Id="rId4" Type="http://schemas.openxmlformats.org/officeDocument/2006/relationships/image" Target="../media/image47.png"/><Relationship Id="rId9" Type="http://schemas.openxmlformats.org/officeDocument/2006/relationships/image" Target="../media/image50.svg"/></Relationships>
</file>

<file path=ppt/slides/_rels/slide1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1651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Bandit 敏感信息加密合规检测插件</a:t>
            </a:r>
            <a:endParaRPr lang="en-US" sz="1100"/>
          </a:p>
        </p:txBody>
      </p:sp>
      <p:sp>
        <p:nvSpPr>
          <p:cNvPr id="4" name="AutoShape 4"/>
          <p:cNvSpPr/>
          <p:nvPr/>
        </p:nvSpPr>
        <p:spPr>
          <a:xfrm>
            <a:off x="0" y="2794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0" i="0" u="none" strike="noStrike">
                <a:solidFill>
                  <a:srgbClr val="FFFFFF">
                    <a:alpha val="90196"/>
                  </a:srgbClr>
                </a:solidFill>
                <a:latin typeface="Noto Sans SC"/>
                <a:ea typeface="Noto Sans SC"/>
                <a:cs typeface="Noto Sans SC"/>
                <a:sym typeface="Noto Sans SC"/>
              </a:rPr>
              <a:t>让硬编码敏感信息无处遁形</a:t>
            </a:r>
            <a:endParaRPr lang="en-US" sz="1100"/>
          </a:p>
        </p:txBody>
      </p:sp>
      <p:sp>
        <p:nvSpPr>
          <p:cNvPr id="5" name="AutoShape 5"/>
          <p:cNvSpPr/>
          <p:nvPr/>
        </p:nvSpPr>
        <p:spPr>
          <a:xfrm>
            <a:off x="1651000" y="3810000"/>
            <a:ext cx="8890000" cy="762000"/>
          </a:xfrm>
          <a:prstGeom prst="rect">
            <a:avLst/>
          </a:prstGeom>
          <a:noFill/>
          <a:ln w="12700" cap="flat" cmpd="sng">
            <a:noFill/>
            <a:prstDash val="solid"/>
            <a:round/>
          </a:ln>
        </p:spPr>
        <p:txBody>
          <a:bodyPr vert="horz" wrap="square" lIns="0" tIns="0" rIns="0" bIns="0" rtlCol="0" anchor="ctr" anchorCtr="0"/>
          <a:lstStyle/>
          <a:p>
            <a:pPr indent="0" algn="ctr">
              <a:lnSpc>
                <a:spcPct val="116666"/>
              </a:lnSpc>
              <a:defRPr/>
            </a:pPr>
            <a:r>
              <a:rPr lang="en-US" sz="1600" b="0" i="0" u="none" strike="noStrike">
                <a:solidFill>
                  <a:srgbClr val="E6E6E6"/>
                </a:solidFill>
                <a:latin typeface="Noto Sans SC"/>
                <a:ea typeface="Noto Sans SC"/>
                <a:cs typeface="Noto Sans SC"/>
                <a:sym typeface="Noto Sans SC"/>
              </a:rPr>
              <a:t>一款高准确率、低误报、完全兼容 Bandit 生态的 Python 代码安全检测插件</a:t>
            </a:r>
            <a:endParaRPr lang="en-US" sz="1100"/>
          </a:p>
        </p:txBody>
      </p:sp>
      <p:sp>
        <p:nvSpPr>
          <p:cNvPr id="6" name="AutoShape 6"/>
          <p:cNvSpPr/>
          <p:nvPr/>
        </p:nvSpPr>
        <p:spPr>
          <a:xfrm>
            <a:off x="5588000" y="4889500"/>
            <a:ext cx="1016000" cy="508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0" y="5334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altLang="zh-CN" dirty="0">
                <a:solidFill>
                  <a:srgbClr val="C8C8C8"/>
                </a:solidFill>
                <a:latin typeface="Noto Sans SC"/>
                <a:ea typeface="Noto Sans SC"/>
                <a:cs typeface="Noto Sans SC"/>
                <a:sym typeface="Noto Sans SC"/>
              </a:rPr>
              <a:t>TPP</a:t>
            </a:r>
            <a:r>
              <a:rPr lang="en-US" sz="1400" b="0" i="0" u="none" strike="noStrike" dirty="0">
                <a:solidFill>
                  <a:srgbClr val="C8C8C8"/>
                </a:solidFill>
                <a:latin typeface="Noto Sans SC"/>
                <a:ea typeface="Noto Sans SC"/>
                <a:cs typeface="Noto Sans SC"/>
                <a:sym typeface="Noto Sans SC"/>
              </a:rPr>
              <a:t> </a:t>
            </a:r>
            <a:r>
              <a:rPr lang="en-US" sz="1400" b="0" i="0" u="none" strike="noStrike" dirty="0" err="1">
                <a:solidFill>
                  <a:srgbClr val="C8C8C8"/>
                </a:solidFill>
                <a:latin typeface="Noto Sans SC"/>
                <a:ea typeface="Noto Sans SC"/>
                <a:cs typeface="Noto Sans SC"/>
                <a:sym typeface="Noto Sans SC"/>
              </a:rPr>
              <a:t>团队</a:t>
            </a:r>
            <a:r>
              <a:rPr lang="en-US" sz="1400" b="0" i="0" u="none" strike="noStrike" dirty="0">
                <a:solidFill>
                  <a:srgbClr val="C8C8C8"/>
                </a:solidFill>
                <a:latin typeface="Noto Sans SC"/>
                <a:ea typeface="Noto Sans SC"/>
                <a:cs typeface="Noto Sans SC"/>
                <a:sym typeface="Noto Sans SC"/>
              </a:rPr>
              <a:t> | 2026年4月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目录 CONTENTS</a:t>
            </a:r>
            <a:endParaRPr lang="en-US" sz="1100"/>
          </a:p>
        </p:txBody>
      </p:sp>
      <p:sp>
        <p:nvSpPr>
          <p:cNvPr id="4" name="AutoShape 4"/>
          <p:cNvSpPr/>
          <p:nvPr/>
        </p:nvSpPr>
        <p:spPr>
          <a:xfrm>
            <a:off x="762000" y="1524000"/>
            <a:ext cx="3302000" cy="1778000"/>
          </a:xfrm>
          <a:prstGeom prst="roundRect">
            <a:avLst>
              <a:gd name="adj" fmla="val 8571"/>
            </a:avLst>
          </a:prstGeom>
          <a:solidFill>
            <a:srgbClr val="FFFFFF">
              <a:alpha val="8000"/>
            </a:srgbClr>
          </a:solidFill>
          <a:ln w="25400" cap="flat" cmpd="sng">
            <a:noFill/>
            <a:prstDash val="solid"/>
            <a:round/>
          </a:ln>
          <a:effectLst>
            <a:outerShdw blurRad="152400" dist="50800" dir="54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762000" y="1524000"/>
            <a:ext cx="762000" cy="1778000"/>
          </a:xfrm>
          <a:prstGeom prst="roundRect">
            <a:avLst>
              <a:gd name="adj" fmla="val 2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524000"/>
            <a:ext cx="76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01</a:t>
            </a:r>
            <a:endParaRPr lang="en-US" sz="1100"/>
          </a:p>
        </p:txBody>
      </p:sp>
      <p:sp>
        <p:nvSpPr>
          <p:cNvPr id="7" name="AutoShape 7"/>
          <p:cNvSpPr/>
          <p:nvPr/>
        </p:nvSpPr>
        <p:spPr>
          <a:xfrm>
            <a:off x="17145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软件价值：痛点分析</a:t>
            </a:r>
            <a:endParaRPr lang="en-US" sz="1100"/>
          </a:p>
        </p:txBody>
      </p:sp>
      <p:sp>
        <p:nvSpPr>
          <p:cNvPr id="8" name="AutoShape 8"/>
          <p:cNvSpPr/>
          <p:nvPr/>
        </p:nvSpPr>
        <p:spPr>
          <a:xfrm>
            <a:off x="1714500" y="2222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alpha val="70196"/>
                  </a:srgbClr>
                </a:solidFill>
                <a:latin typeface="Noto Sans SC"/>
                <a:ea typeface="Noto Sans SC"/>
                <a:cs typeface="Noto Sans SC"/>
                <a:sym typeface="Noto Sans SC"/>
              </a:rPr>
              <a:t>剖析硬编码敏感信息的三大痛点场景，量化其带来的真实安全代价。</a:t>
            </a:r>
            <a:endParaRPr lang="en-US" sz="1100"/>
          </a:p>
        </p:txBody>
      </p:sp>
      <p:sp>
        <p:nvSpPr>
          <p:cNvPr id="9" name="AutoShape 9"/>
          <p:cNvSpPr/>
          <p:nvPr/>
        </p:nvSpPr>
        <p:spPr>
          <a:xfrm>
            <a:off x="4445000" y="1524000"/>
            <a:ext cx="3302000" cy="1778000"/>
          </a:xfrm>
          <a:prstGeom prst="roundRect">
            <a:avLst>
              <a:gd name="adj" fmla="val 8571"/>
            </a:avLst>
          </a:prstGeom>
          <a:solidFill>
            <a:srgbClr val="FFFFFF">
              <a:alpha val="8000"/>
            </a:srgbClr>
          </a:solidFill>
          <a:ln w="25400" cap="flat" cmpd="sng">
            <a:noFill/>
            <a:prstDash val="solid"/>
            <a:round/>
          </a:ln>
          <a:effectLst>
            <a:outerShdw blurRad="152400" dist="50800" dir="54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4445000" y="1524000"/>
            <a:ext cx="762000" cy="1778000"/>
          </a:xfrm>
          <a:prstGeom prst="roundRect">
            <a:avLst>
              <a:gd name="adj" fmla="val 2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45000" y="1524000"/>
            <a:ext cx="76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02</a:t>
            </a:r>
            <a:endParaRPr lang="en-US" sz="1100"/>
          </a:p>
        </p:txBody>
      </p:sp>
      <p:sp>
        <p:nvSpPr>
          <p:cNvPr id="12" name="AutoShape 12"/>
          <p:cNvSpPr/>
          <p:nvPr/>
        </p:nvSpPr>
        <p:spPr>
          <a:xfrm>
            <a:off x="53975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核心特性与差异化</a:t>
            </a:r>
            <a:endParaRPr lang="en-US" sz="1100"/>
          </a:p>
        </p:txBody>
      </p:sp>
      <p:sp>
        <p:nvSpPr>
          <p:cNvPr id="13" name="AutoShape 13"/>
          <p:cNvSpPr/>
          <p:nvPr/>
        </p:nvSpPr>
        <p:spPr>
          <a:xfrm>
            <a:off x="5397500" y="2222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alpha val="70196"/>
                  </a:srgbClr>
                </a:solidFill>
                <a:latin typeface="Noto Sans SC"/>
                <a:ea typeface="Noto Sans SC"/>
                <a:cs typeface="Noto Sans SC"/>
                <a:sym typeface="Noto Sans SC"/>
              </a:rPr>
              <a:t>对比 Bandit 原生规则，详细阐述插件具备的三大核心竞争优势。</a:t>
            </a:r>
            <a:endParaRPr lang="en-US" sz="1100"/>
          </a:p>
        </p:txBody>
      </p:sp>
      <p:sp>
        <p:nvSpPr>
          <p:cNvPr id="14" name="AutoShape 14"/>
          <p:cNvSpPr/>
          <p:nvPr/>
        </p:nvSpPr>
        <p:spPr>
          <a:xfrm>
            <a:off x="8128000" y="1524000"/>
            <a:ext cx="3302000" cy="1778000"/>
          </a:xfrm>
          <a:prstGeom prst="roundRect">
            <a:avLst>
              <a:gd name="adj" fmla="val 8571"/>
            </a:avLst>
          </a:prstGeom>
          <a:solidFill>
            <a:srgbClr val="FFFFFF">
              <a:alpha val="8000"/>
            </a:srgbClr>
          </a:solidFill>
          <a:ln w="25400" cap="flat" cmpd="sng">
            <a:noFill/>
            <a:prstDash val="solid"/>
            <a:round/>
          </a:ln>
          <a:effectLst>
            <a:outerShdw blurRad="152400" dist="50800" dir="54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8128000" y="1524000"/>
            <a:ext cx="762000" cy="1778000"/>
          </a:xfrm>
          <a:prstGeom prst="roundRect">
            <a:avLst>
              <a:gd name="adj" fmla="val 2000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128000" y="1524000"/>
            <a:ext cx="76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03</a:t>
            </a:r>
            <a:endParaRPr lang="en-US" sz="1100"/>
          </a:p>
        </p:txBody>
      </p:sp>
      <p:sp>
        <p:nvSpPr>
          <p:cNvPr id="17" name="AutoShape 17"/>
          <p:cNvSpPr/>
          <p:nvPr/>
        </p:nvSpPr>
        <p:spPr>
          <a:xfrm>
            <a:off x="9080500" y="17145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系统用例与核心功能</a:t>
            </a:r>
            <a:endParaRPr lang="en-US" sz="1100"/>
          </a:p>
        </p:txBody>
      </p:sp>
      <p:sp>
        <p:nvSpPr>
          <p:cNvPr id="18" name="AutoShape 18"/>
          <p:cNvSpPr/>
          <p:nvPr/>
        </p:nvSpPr>
        <p:spPr>
          <a:xfrm>
            <a:off x="9080500" y="2222500"/>
            <a:ext cx="2159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alpha val="70196"/>
                  </a:srgbClr>
                </a:solidFill>
                <a:latin typeface="Noto Sans SC"/>
                <a:ea typeface="Noto Sans SC"/>
                <a:cs typeface="Noto Sans SC"/>
                <a:sym typeface="Noto Sans SC"/>
              </a:rPr>
              <a:t>展示不同角色的使用场景，深度解析插件集成的八大核心功能模块。</a:t>
            </a:r>
            <a:endParaRPr lang="en-US" sz="1100"/>
          </a:p>
        </p:txBody>
      </p:sp>
      <p:sp>
        <p:nvSpPr>
          <p:cNvPr id="19" name="AutoShape 19"/>
          <p:cNvSpPr/>
          <p:nvPr/>
        </p:nvSpPr>
        <p:spPr>
          <a:xfrm>
            <a:off x="762000" y="3683000"/>
            <a:ext cx="5207000" cy="1651000"/>
          </a:xfrm>
          <a:prstGeom prst="roundRect">
            <a:avLst>
              <a:gd name="adj" fmla="val 9230"/>
            </a:avLst>
          </a:prstGeom>
          <a:solidFill>
            <a:srgbClr val="FFFFFF">
              <a:alpha val="8000"/>
            </a:srgbClr>
          </a:solidFill>
          <a:ln w="25400" cap="flat" cmpd="sng">
            <a:noFill/>
            <a:prstDash val="solid"/>
            <a:round/>
          </a:ln>
          <a:effectLst>
            <a:outerShdw blurRad="152400" dist="50800" dir="54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762000" y="3683000"/>
            <a:ext cx="889000" cy="1651000"/>
          </a:xfrm>
          <a:prstGeom prst="roundRect">
            <a:avLst>
              <a:gd name="adj" fmla="val 17142"/>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3683000"/>
            <a:ext cx="889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04</a:t>
            </a:r>
            <a:endParaRPr lang="en-US" sz="1100"/>
          </a:p>
        </p:txBody>
      </p:sp>
      <p:sp>
        <p:nvSpPr>
          <p:cNvPr id="22" name="AutoShape 22"/>
          <p:cNvSpPr/>
          <p:nvPr/>
        </p:nvSpPr>
        <p:spPr>
          <a:xfrm>
            <a:off x="1905000" y="3873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技术架构与项目规划</a:t>
            </a:r>
            <a:endParaRPr lang="en-US" sz="1100"/>
          </a:p>
        </p:txBody>
      </p:sp>
      <p:sp>
        <p:nvSpPr>
          <p:cNvPr id="23" name="AutoShape 23"/>
          <p:cNvSpPr/>
          <p:nvPr/>
        </p:nvSpPr>
        <p:spPr>
          <a:xfrm>
            <a:off x="1905000" y="43815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alpha val="70196"/>
                  </a:srgbClr>
                </a:solidFill>
                <a:latin typeface="Noto Sans SC"/>
                <a:ea typeface="Noto Sans SC"/>
                <a:cs typeface="Noto Sans SC"/>
                <a:sym typeface="Noto Sans SC"/>
              </a:rPr>
              <a:t>解析插件的核心技术栈与分层架构设计，并展示详细的项目交付里程碑计划。</a:t>
            </a:r>
            <a:endParaRPr lang="en-US" sz="1100"/>
          </a:p>
        </p:txBody>
      </p:sp>
      <p:sp>
        <p:nvSpPr>
          <p:cNvPr id="24" name="AutoShape 24"/>
          <p:cNvSpPr/>
          <p:nvPr/>
        </p:nvSpPr>
        <p:spPr>
          <a:xfrm>
            <a:off x="6223000" y="3683000"/>
            <a:ext cx="5207000" cy="1651000"/>
          </a:xfrm>
          <a:prstGeom prst="roundRect">
            <a:avLst>
              <a:gd name="adj" fmla="val 9230"/>
            </a:avLst>
          </a:prstGeom>
          <a:solidFill>
            <a:srgbClr val="FFFFFF">
              <a:alpha val="8000"/>
            </a:srgbClr>
          </a:solidFill>
          <a:ln w="25400" cap="flat" cmpd="sng">
            <a:noFill/>
            <a:prstDash val="solid"/>
            <a:round/>
          </a:ln>
          <a:effectLst>
            <a:outerShdw blurRad="152400" dist="50800" dir="54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5" name="AutoShape 25"/>
          <p:cNvSpPr/>
          <p:nvPr/>
        </p:nvSpPr>
        <p:spPr>
          <a:xfrm>
            <a:off x="6223000" y="3683000"/>
            <a:ext cx="889000" cy="1651000"/>
          </a:xfrm>
          <a:prstGeom prst="roundRect">
            <a:avLst>
              <a:gd name="adj" fmla="val 17142"/>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223000" y="3683000"/>
            <a:ext cx="889000" cy="165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05</a:t>
            </a:r>
            <a:endParaRPr lang="en-US" sz="1100"/>
          </a:p>
        </p:txBody>
      </p:sp>
      <p:sp>
        <p:nvSpPr>
          <p:cNvPr id="27" name="AutoShape 27"/>
          <p:cNvSpPr/>
          <p:nvPr/>
        </p:nvSpPr>
        <p:spPr>
          <a:xfrm>
            <a:off x="7366000" y="38735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总结与展望</a:t>
            </a:r>
            <a:endParaRPr lang="en-US" sz="1100"/>
          </a:p>
        </p:txBody>
      </p:sp>
      <p:sp>
        <p:nvSpPr>
          <p:cNvPr id="28" name="AutoShape 28"/>
          <p:cNvSpPr/>
          <p:nvPr/>
        </p:nvSpPr>
        <p:spPr>
          <a:xfrm>
            <a:off x="7366000" y="4381500"/>
            <a:ext cx="3810000"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E5E7EB">
                    <a:alpha val="70196"/>
                  </a:srgbClr>
                </a:solidFill>
                <a:latin typeface="Noto Sans SC"/>
                <a:ea typeface="Noto Sans SC"/>
                <a:cs typeface="Noto Sans SC"/>
                <a:sym typeface="Noto Sans SC"/>
              </a:rPr>
              <a:t>回顾项目带来的安全价值与业务收益，展望未来的社区共建与长期开源演进路线。</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硬编码敏感信息——开发者最易忽视却代价最高的安全隐患</a:t>
            </a:r>
            <a:endParaRPr lang="en-US" sz="1100"/>
          </a:p>
        </p:txBody>
      </p:sp>
      <p:sp>
        <p:nvSpPr>
          <p:cNvPr id="4" name="AutoShape 4"/>
          <p:cNvSpPr/>
          <p:nvPr/>
        </p:nvSpPr>
        <p:spPr>
          <a:xfrm>
            <a:off x="762000" y="1524000"/>
            <a:ext cx="3302000" cy="2159000"/>
          </a:xfrm>
          <a:prstGeom prst="roundRect">
            <a:avLst>
              <a:gd name="adj" fmla="val 7058"/>
            </a:avLst>
          </a:prstGeom>
          <a:solidFill>
            <a:srgbClr val="1E293B">
              <a:alpha val="90000"/>
            </a:srgbClr>
          </a:solidFill>
          <a:ln w="12700" cap="flat" cmpd="sng">
            <a:solidFill>
              <a:srgbClr val="38A169">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14500"/>
            <a:ext cx="457200" cy="457200"/>
          </a:xfrm>
          <a:prstGeom prst="rect">
            <a:avLst/>
          </a:prstGeom>
        </p:spPr>
      </p:pic>
      <p:sp>
        <p:nvSpPr>
          <p:cNvPr id="6" name="AutoShape 6"/>
          <p:cNvSpPr/>
          <p:nvPr/>
        </p:nvSpPr>
        <p:spPr>
          <a:xfrm>
            <a:off x="1651000" y="1752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开发者误操作</a:t>
            </a:r>
            <a:endParaRPr lang="en-US" sz="1100"/>
          </a:p>
        </p:txBody>
      </p:sp>
      <p:sp>
        <p:nvSpPr>
          <p:cNvPr id="7" name="AutoShape 7"/>
          <p:cNvSpPr/>
          <p:nvPr/>
        </p:nvSpPr>
        <p:spPr>
          <a:xfrm>
            <a:off x="1016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BD5E1"/>
                </a:solidFill>
                <a:latin typeface="Noto Sans SC"/>
                <a:ea typeface="Noto Sans SC"/>
                <a:cs typeface="Noto Sans SC"/>
                <a:sym typeface="Noto Sans SC"/>
              </a:rPr>
              <a:t>AWS密钥意外提交至GitHub，导致1.2TB核心用户数据被非法访问与下载。</a:t>
            </a:r>
            <a:endParaRPr lang="en-US" sz="1100"/>
          </a:p>
        </p:txBody>
      </p:sp>
      <p:sp>
        <p:nvSpPr>
          <p:cNvPr id="8" name="AutoShape 8"/>
          <p:cNvSpPr/>
          <p:nvPr/>
        </p:nvSpPr>
        <p:spPr>
          <a:xfrm>
            <a:off x="1016000" y="3048000"/>
            <a:ext cx="2794000" cy="381000"/>
          </a:xfrm>
          <a:prstGeom prst="roundRect">
            <a:avLst>
              <a:gd name="adj" fmla="val 20000"/>
            </a:avLst>
          </a:prstGeom>
          <a:solidFill>
            <a:srgbClr val="38A16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31115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A7F3D0"/>
                </a:solidFill>
                <a:latin typeface="Noto Sans SC"/>
                <a:ea typeface="Noto Sans SC"/>
                <a:cs typeface="Noto Sans SC"/>
                <a:sym typeface="Noto Sans SC"/>
              </a:rPr>
              <a:t>⚠️ 某头部云厂商真实泄露事件</a:t>
            </a:r>
            <a:endParaRPr lang="en-US" sz="1100"/>
          </a:p>
        </p:txBody>
      </p:sp>
      <p:sp>
        <p:nvSpPr>
          <p:cNvPr id="10" name="AutoShape 10"/>
          <p:cNvSpPr/>
          <p:nvPr/>
        </p:nvSpPr>
        <p:spPr>
          <a:xfrm>
            <a:off x="4445000" y="1524000"/>
            <a:ext cx="3302000" cy="2159000"/>
          </a:xfrm>
          <a:prstGeom prst="roundRect">
            <a:avLst>
              <a:gd name="adj" fmla="val 7058"/>
            </a:avLst>
          </a:prstGeom>
          <a:solidFill>
            <a:srgbClr val="1E293B">
              <a:alpha val="90000"/>
            </a:srgbClr>
          </a:solidFill>
          <a:ln w="12700" cap="flat" cmpd="sng">
            <a:solidFill>
              <a:srgbClr val="38A169">
                <a:alpha val="5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14500"/>
            <a:ext cx="457200" cy="457200"/>
          </a:xfrm>
          <a:prstGeom prst="rect">
            <a:avLst/>
          </a:prstGeom>
        </p:spPr>
      </p:pic>
      <p:sp>
        <p:nvSpPr>
          <p:cNvPr id="12" name="AutoShape 12"/>
          <p:cNvSpPr/>
          <p:nvPr/>
        </p:nvSpPr>
        <p:spPr>
          <a:xfrm>
            <a:off x="5334000" y="1752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运维配置不当</a:t>
            </a:r>
            <a:endParaRPr lang="en-US" sz="1100"/>
          </a:p>
        </p:txBody>
      </p:sp>
      <p:sp>
        <p:nvSpPr>
          <p:cNvPr id="13" name="AutoShape 13"/>
          <p:cNvSpPr/>
          <p:nvPr/>
        </p:nvSpPr>
        <p:spPr>
          <a:xfrm>
            <a:off x="4699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BD5E1"/>
                </a:solidFill>
                <a:latin typeface="Noto Sans SC"/>
                <a:ea typeface="Noto Sans SC"/>
                <a:cs typeface="Noto Sans SC"/>
                <a:sym typeface="Noto Sans SC"/>
              </a:rPr>
              <a:t>数据库Root密码硬编码在部署脚本中，导致黑客入侵窃取300万用户银行卡信息。</a:t>
            </a:r>
            <a:endParaRPr lang="en-US" sz="1100"/>
          </a:p>
        </p:txBody>
      </p:sp>
      <p:sp>
        <p:nvSpPr>
          <p:cNvPr id="14" name="AutoShape 14"/>
          <p:cNvSpPr/>
          <p:nvPr/>
        </p:nvSpPr>
        <p:spPr>
          <a:xfrm>
            <a:off x="4699000" y="3048000"/>
            <a:ext cx="2794000" cy="381000"/>
          </a:xfrm>
          <a:prstGeom prst="roundRect">
            <a:avLst>
              <a:gd name="adj" fmla="val 20000"/>
            </a:avLst>
          </a:prstGeom>
          <a:solidFill>
            <a:srgbClr val="38A16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4826000" y="31115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A7F3D0"/>
                </a:solidFill>
                <a:latin typeface="Noto Sans SC"/>
                <a:ea typeface="Noto Sans SC"/>
                <a:cs typeface="Noto Sans SC"/>
                <a:sym typeface="Noto Sans SC"/>
              </a:rPr>
              <a:t>💰 某金融科技公司被罚 2300 万</a:t>
            </a:r>
            <a:endParaRPr lang="en-US" sz="1100"/>
          </a:p>
        </p:txBody>
      </p:sp>
      <p:sp>
        <p:nvSpPr>
          <p:cNvPr id="16" name="AutoShape 16"/>
          <p:cNvSpPr/>
          <p:nvPr/>
        </p:nvSpPr>
        <p:spPr>
          <a:xfrm>
            <a:off x="8128000" y="1524000"/>
            <a:ext cx="3302000" cy="2159000"/>
          </a:xfrm>
          <a:prstGeom prst="roundRect">
            <a:avLst>
              <a:gd name="adj" fmla="val 7058"/>
            </a:avLst>
          </a:prstGeom>
          <a:solidFill>
            <a:srgbClr val="1E293B">
              <a:alpha val="90000"/>
            </a:srgbClr>
          </a:solidFill>
          <a:ln w="12700" cap="flat" cmpd="sng">
            <a:solidFill>
              <a:srgbClr val="38A169">
                <a:alpha val="50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14500"/>
            <a:ext cx="457200" cy="457200"/>
          </a:xfrm>
          <a:prstGeom prst="rect">
            <a:avLst/>
          </a:prstGeom>
        </p:spPr>
      </p:pic>
      <p:sp>
        <p:nvSpPr>
          <p:cNvPr id="18" name="AutoShape 18"/>
          <p:cNvSpPr/>
          <p:nvPr/>
        </p:nvSpPr>
        <p:spPr>
          <a:xfrm>
            <a:off x="9017000" y="1752600"/>
            <a:ext cx="215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合规法律风险</a:t>
            </a:r>
            <a:endParaRPr lang="en-US" sz="1100"/>
          </a:p>
        </p:txBody>
      </p:sp>
      <p:sp>
        <p:nvSpPr>
          <p:cNvPr id="19" name="AutoShape 19"/>
          <p:cNvSpPr/>
          <p:nvPr/>
        </p:nvSpPr>
        <p:spPr>
          <a:xfrm>
            <a:off x="8382000" y="2349500"/>
            <a:ext cx="2794000" cy="635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200" b="0" i="0" u="none" strike="noStrike">
                <a:solidFill>
                  <a:srgbClr val="CBD5E1"/>
                </a:solidFill>
                <a:latin typeface="Noto Sans SC"/>
                <a:ea typeface="Noto Sans SC"/>
                <a:cs typeface="Noto Sans SC"/>
                <a:sym typeface="Noto Sans SC"/>
              </a:rPr>
              <a:t>等保2.0与数据安全法强制要求，违规最高面临5000万罚款或营业额5%重罚。</a:t>
            </a:r>
            <a:endParaRPr lang="en-US" sz="1100"/>
          </a:p>
        </p:txBody>
      </p:sp>
      <p:sp>
        <p:nvSpPr>
          <p:cNvPr id="20" name="AutoShape 20"/>
          <p:cNvSpPr/>
          <p:nvPr/>
        </p:nvSpPr>
        <p:spPr>
          <a:xfrm>
            <a:off x="8382000" y="3048000"/>
            <a:ext cx="2794000" cy="381000"/>
          </a:xfrm>
          <a:prstGeom prst="roundRect">
            <a:avLst>
              <a:gd name="adj" fmla="val 20000"/>
            </a:avLst>
          </a:prstGeom>
          <a:solidFill>
            <a:srgbClr val="38A169">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8509000" y="31115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A7F3D0"/>
                </a:solidFill>
                <a:latin typeface="Noto Sans SC"/>
                <a:ea typeface="Noto Sans SC"/>
                <a:cs typeface="Noto Sans SC"/>
                <a:sym typeface="Noto Sans SC"/>
              </a:rPr>
              <a:t>📉 2025年超200家企业因此被罚</a:t>
            </a:r>
            <a:endParaRPr lang="en-US" sz="1100"/>
          </a:p>
        </p:txBody>
      </p:sp>
      <p:sp>
        <p:nvSpPr>
          <p:cNvPr id="22" name="AutoShape 22"/>
          <p:cNvSpPr/>
          <p:nvPr/>
        </p:nvSpPr>
        <p:spPr>
          <a:xfrm>
            <a:off x="762000" y="3937000"/>
            <a:ext cx="3302000" cy="1270000"/>
          </a:xfrm>
          <a:prstGeom prst="roundRect">
            <a:avLst>
              <a:gd name="adj" fmla="val 120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89000" y="4064000"/>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8A169"/>
                </a:solidFill>
                <a:latin typeface="Noto Sans SC"/>
                <a:ea typeface="Noto Sans SC"/>
                <a:cs typeface="Noto Sans SC"/>
                <a:sym typeface="Noto Sans SC"/>
              </a:rPr>
              <a:t>24%</a:t>
            </a:r>
            <a:endParaRPr lang="en-US" sz="1100"/>
          </a:p>
        </p:txBody>
      </p:sp>
      <p:sp>
        <p:nvSpPr>
          <p:cNvPr id="24" name="AutoShape 24"/>
          <p:cNvSpPr/>
          <p:nvPr/>
        </p:nvSpPr>
        <p:spPr>
          <a:xfrm>
            <a:off x="889000" y="4762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2E8F0"/>
                </a:solidFill>
                <a:latin typeface="Noto Sans SC"/>
                <a:ea typeface="Noto Sans SC"/>
                <a:cs typeface="Noto Sans SC"/>
                <a:sym typeface="Noto Sans SC"/>
              </a:rPr>
              <a:t>数据泄露源于硬编码凭证 (Verizon DBIR)</a:t>
            </a:r>
            <a:endParaRPr lang="en-US" sz="1100"/>
          </a:p>
        </p:txBody>
      </p:sp>
      <p:sp>
        <p:nvSpPr>
          <p:cNvPr id="25" name="AutoShape 25"/>
          <p:cNvSpPr/>
          <p:nvPr/>
        </p:nvSpPr>
        <p:spPr>
          <a:xfrm>
            <a:off x="4445000" y="3937000"/>
            <a:ext cx="3302000" cy="1270000"/>
          </a:xfrm>
          <a:prstGeom prst="roundRect">
            <a:avLst>
              <a:gd name="adj" fmla="val 120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4572000" y="4064000"/>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8A169"/>
                </a:solidFill>
                <a:latin typeface="Noto Sans SC"/>
                <a:ea typeface="Noto Sans SC"/>
                <a:cs typeface="Noto Sans SC"/>
                <a:sym typeface="Noto Sans SC"/>
              </a:rPr>
              <a:t>$120亿+</a:t>
            </a:r>
            <a:endParaRPr lang="en-US" sz="1100"/>
          </a:p>
        </p:txBody>
      </p:sp>
      <p:sp>
        <p:nvSpPr>
          <p:cNvPr id="27" name="AutoShape 27"/>
          <p:cNvSpPr/>
          <p:nvPr/>
        </p:nvSpPr>
        <p:spPr>
          <a:xfrm>
            <a:off x="4572000" y="4762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2E8F0"/>
                </a:solidFill>
                <a:latin typeface="Noto Sans SC"/>
                <a:ea typeface="Noto Sans SC"/>
                <a:cs typeface="Noto Sans SC"/>
                <a:sym typeface="Noto Sans SC"/>
              </a:rPr>
              <a:t>全球因硬编码漏洞造成的年经济损失</a:t>
            </a:r>
            <a:endParaRPr lang="en-US" sz="1100"/>
          </a:p>
        </p:txBody>
      </p:sp>
      <p:sp>
        <p:nvSpPr>
          <p:cNvPr id="28" name="AutoShape 28"/>
          <p:cNvSpPr/>
          <p:nvPr/>
        </p:nvSpPr>
        <p:spPr>
          <a:xfrm>
            <a:off x="8128000" y="3937000"/>
            <a:ext cx="3302000" cy="1270000"/>
          </a:xfrm>
          <a:prstGeom prst="roundRect">
            <a:avLst>
              <a:gd name="adj" fmla="val 120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8255000" y="4064000"/>
            <a:ext cx="3048000" cy="571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38A169"/>
                </a:solidFill>
                <a:latin typeface="Noto Sans SC"/>
                <a:ea typeface="Noto Sans SC"/>
                <a:cs typeface="Noto Sans SC"/>
                <a:sym typeface="Noto Sans SC"/>
              </a:rPr>
              <a:t>20%+</a:t>
            </a:r>
            <a:endParaRPr lang="en-US" sz="1100"/>
          </a:p>
        </p:txBody>
      </p:sp>
      <p:sp>
        <p:nvSpPr>
          <p:cNvPr id="30" name="AutoShape 30"/>
          <p:cNvSpPr/>
          <p:nvPr/>
        </p:nvSpPr>
        <p:spPr>
          <a:xfrm>
            <a:off x="8255000" y="47625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2E8F0"/>
                </a:solidFill>
                <a:latin typeface="Noto Sans SC"/>
                <a:ea typeface="Noto Sans SC"/>
                <a:cs typeface="Noto Sans SC"/>
                <a:sym typeface="Noto Sans SC"/>
              </a:rPr>
              <a:t>传统检测工具(Bandit)的原生规则误报率</a:t>
            </a:r>
            <a:endParaRPr lang="en-US" sz="1100"/>
          </a:p>
        </p:txBody>
      </p:sp>
      <p:sp>
        <p:nvSpPr>
          <p:cNvPr id="31" name="AutoShape 31"/>
          <p:cNvSpPr/>
          <p:nvPr/>
        </p:nvSpPr>
        <p:spPr>
          <a:xfrm>
            <a:off x="762000" y="5461000"/>
            <a:ext cx="10668000" cy="762000"/>
          </a:xfrm>
          <a:prstGeom prst="roundRect">
            <a:avLst>
              <a:gd name="adj" fmla="val 26666"/>
            </a:avLst>
          </a:prstGeom>
          <a:solidFill>
            <a:srgbClr val="38A169">
              <a:alpha val="90000"/>
            </a:srgbClr>
          </a:solidFill>
          <a:ln w="25400" cap="flat" cmpd="sng">
            <a:noFill/>
            <a:prstDash val="solid"/>
            <a:round/>
          </a:ln>
          <a:effectLst>
            <a:outerShdw blurRad="127000" dist="508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32" name="AutoShape 32"/>
          <p:cNvSpPr/>
          <p:nvPr/>
        </p:nvSpPr>
        <p:spPr>
          <a:xfrm>
            <a:off x="1016000" y="56134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 核心价值：在编码阶段 5 分钟发现问题，避免上线后 500 万的巨额合规与修复损失</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为什么选择我们的插件？</a:t>
            </a:r>
            <a:endParaRPr lang="en-US" sz="1100"/>
          </a:p>
        </p:txBody>
      </p:sp>
      <p:sp>
        <p:nvSpPr>
          <p:cNvPr id="4" name="AutoShape 4"/>
          <p:cNvSpPr/>
          <p:nvPr/>
        </p:nvSpPr>
        <p:spPr>
          <a:xfrm>
            <a:off x="762000" y="1270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FFFFFF">
                    <a:alpha val="70196"/>
                  </a:srgbClr>
                </a:solidFill>
                <a:latin typeface="Noto Sans SC"/>
                <a:ea typeface="Noto Sans SC"/>
                <a:cs typeface="Noto Sans SC"/>
                <a:sym typeface="Noto Sans SC"/>
              </a:rPr>
              <a:t>与 Bandit 原生规则的三大差异化优势</a:t>
            </a:r>
            <a:endParaRPr lang="en-US" sz="1100"/>
          </a:p>
        </p:txBody>
      </p:sp>
      <p:sp>
        <p:nvSpPr>
          <p:cNvPr id="5" name="AutoShape 5"/>
          <p:cNvSpPr/>
          <p:nvPr/>
        </p:nvSpPr>
        <p:spPr>
          <a:xfrm>
            <a:off x="762000" y="1841500"/>
            <a:ext cx="3302000" cy="1778000"/>
          </a:xfrm>
          <a:prstGeom prst="roundRect">
            <a:avLst>
              <a:gd name="adj" fmla="val 8571"/>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032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8A169"/>
                </a:solidFill>
                <a:latin typeface="Noto Sans SC"/>
                <a:ea typeface="Noto Sans SC"/>
                <a:cs typeface="Noto Sans SC"/>
                <a:sym typeface="Noto Sans SC"/>
              </a:rPr>
              <a:t>🛡️ 检测范围深度扩展</a:t>
            </a:r>
            <a:endParaRPr lang="en-US" sz="1100"/>
          </a:p>
        </p:txBody>
      </p:sp>
      <p:sp>
        <p:nvSpPr>
          <p:cNvPr id="7" name="AutoShape 7"/>
          <p:cNvSpPr/>
          <p:nvPr/>
        </p:nvSpPr>
        <p:spPr>
          <a:xfrm>
            <a:off x="952500" y="2413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ED8936"/>
                </a:solidFill>
                <a:latin typeface="Noto Sans SC"/>
                <a:ea typeface="Noto Sans SC"/>
                <a:cs typeface="Noto Sans SC"/>
                <a:sym typeface="Noto Sans SC"/>
              </a:rPr>
              <a:t>❌ Bandit：</a:t>
            </a:r>
            <a:r>
              <a:rPr lang="en-US" sz="1100" b="0" i="0" u="none" strike="noStrike">
                <a:solidFill>
                  <a:srgbClr val="FFFFFF">
                    <a:alpha val="60000"/>
                  </a:srgbClr>
                </a:solidFill>
                <a:latin typeface="Noto Sans SC"/>
                <a:ea typeface="Noto Sans SC"/>
                <a:cs typeface="Noto Sans SC"/>
                <a:sym typeface="Noto Sans SC"/>
              </a:rPr>
              <a:t>仅支持独立字符串字面量，覆盖面窄</a:t>
            </a:r>
            <a:endParaRPr lang="en-US" sz="1100"/>
          </a:p>
        </p:txBody>
      </p:sp>
      <p:sp>
        <p:nvSpPr>
          <p:cNvPr id="8" name="AutoShape 8"/>
          <p:cNvSpPr/>
          <p:nvPr/>
        </p:nvSpPr>
        <p:spPr>
          <a:xfrm>
            <a:off x="952500" y="2984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8BB78"/>
                </a:solidFill>
                <a:latin typeface="Noto Sans SC"/>
                <a:ea typeface="Noto Sans SC"/>
                <a:cs typeface="Noto Sans SC"/>
                <a:sym typeface="Noto Sans SC"/>
              </a:rPr>
              <a:t>✅ 插件：</a:t>
            </a:r>
            <a:r>
              <a:rPr lang="en-US" sz="1100" b="0" i="0" u="none" strike="noStrike">
                <a:solidFill>
                  <a:srgbClr val="FFFFFF">
                    <a:alpha val="90196"/>
                  </a:srgbClr>
                </a:solidFill>
                <a:latin typeface="Noto Sans SC"/>
                <a:ea typeface="Noto Sans SC"/>
                <a:cs typeface="Noto Sans SC"/>
                <a:sym typeface="Noto Sans SC"/>
              </a:rPr>
              <a:t>AST 深度遍历解析，覆盖字典/列表/元组等复杂数据结构</a:t>
            </a:r>
            <a:endParaRPr lang="en-US" sz="1100"/>
          </a:p>
        </p:txBody>
      </p:sp>
      <p:sp>
        <p:nvSpPr>
          <p:cNvPr id="9" name="AutoShape 9"/>
          <p:cNvSpPr/>
          <p:nvPr/>
        </p:nvSpPr>
        <p:spPr>
          <a:xfrm>
            <a:off x="4445000" y="1841500"/>
            <a:ext cx="3302000" cy="1778000"/>
          </a:xfrm>
          <a:prstGeom prst="roundRect">
            <a:avLst>
              <a:gd name="adj" fmla="val 8571"/>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635500" y="2032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8A169"/>
                </a:solidFill>
                <a:latin typeface="Noto Sans SC"/>
                <a:ea typeface="Noto Sans SC"/>
                <a:cs typeface="Noto Sans SC"/>
                <a:sym typeface="Noto Sans SC"/>
              </a:rPr>
              <a:t>🎯 超低误报精准识别</a:t>
            </a:r>
            <a:endParaRPr lang="en-US" sz="1100"/>
          </a:p>
        </p:txBody>
      </p:sp>
      <p:sp>
        <p:nvSpPr>
          <p:cNvPr id="11" name="AutoShape 11"/>
          <p:cNvSpPr/>
          <p:nvPr/>
        </p:nvSpPr>
        <p:spPr>
          <a:xfrm>
            <a:off x="4635500" y="2413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ED8936"/>
                </a:solidFill>
                <a:latin typeface="Noto Sans SC"/>
                <a:ea typeface="Noto Sans SC"/>
                <a:cs typeface="Noto Sans SC"/>
                <a:sym typeface="Noto Sans SC"/>
              </a:rPr>
              <a:t>❌ Bandit：</a:t>
            </a:r>
            <a:r>
              <a:rPr lang="en-US" sz="1100" b="0" i="0" u="none" strike="noStrike">
                <a:solidFill>
                  <a:srgbClr val="FFFFFF">
                    <a:alpha val="60000"/>
                  </a:srgbClr>
                </a:solidFill>
                <a:latin typeface="Noto Sans SC"/>
                <a:ea typeface="Noto Sans SC"/>
                <a:cs typeface="Noto Sans SC"/>
                <a:sym typeface="Noto Sans SC"/>
              </a:rPr>
              <a:t>误报率 20%+，频繁误判注释/测试代码</a:t>
            </a:r>
            <a:endParaRPr lang="en-US" sz="1100"/>
          </a:p>
        </p:txBody>
      </p:sp>
      <p:sp>
        <p:nvSpPr>
          <p:cNvPr id="12" name="AutoShape 12"/>
          <p:cNvSpPr/>
          <p:nvPr/>
        </p:nvSpPr>
        <p:spPr>
          <a:xfrm>
            <a:off x="4635500" y="2984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8BB78"/>
                </a:solidFill>
                <a:latin typeface="Noto Sans SC"/>
                <a:ea typeface="Noto Sans SC"/>
                <a:cs typeface="Noto Sans SC"/>
                <a:sym typeface="Noto Sans SC"/>
              </a:rPr>
              <a:t>✅ 插件：</a:t>
            </a:r>
            <a:r>
              <a:rPr lang="en-US" sz="1100" b="0" i="0" u="none" strike="noStrike">
                <a:solidFill>
                  <a:srgbClr val="FFFFFF">
                    <a:alpha val="90196"/>
                  </a:srgbClr>
                </a:solidFill>
                <a:latin typeface="Noto Sans SC"/>
                <a:ea typeface="Noto Sans SC"/>
                <a:cs typeface="Noto Sans SC"/>
                <a:sym typeface="Noto Sans SC"/>
              </a:rPr>
              <a:t>误报率 ≤5%，基于上下文语义分析+熵值检测+智能白名单</a:t>
            </a:r>
            <a:endParaRPr lang="en-US" sz="1100"/>
          </a:p>
        </p:txBody>
      </p:sp>
      <p:sp>
        <p:nvSpPr>
          <p:cNvPr id="13" name="AutoShape 13"/>
          <p:cNvSpPr/>
          <p:nvPr/>
        </p:nvSpPr>
        <p:spPr>
          <a:xfrm>
            <a:off x="8128000" y="1841500"/>
            <a:ext cx="3302000" cy="1778000"/>
          </a:xfrm>
          <a:prstGeom prst="roundRect">
            <a:avLst>
              <a:gd name="adj" fmla="val 8571"/>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318500" y="2032000"/>
            <a:ext cx="2921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8A169"/>
                </a:solidFill>
                <a:latin typeface="Noto Sans SC"/>
                <a:ea typeface="Noto Sans SC"/>
                <a:cs typeface="Noto Sans SC"/>
                <a:sym typeface="Noto Sans SC"/>
              </a:rPr>
              <a:t>⚙️ 灵活可扩展架构</a:t>
            </a:r>
            <a:endParaRPr lang="en-US" sz="1100"/>
          </a:p>
        </p:txBody>
      </p:sp>
      <p:sp>
        <p:nvSpPr>
          <p:cNvPr id="15" name="AutoShape 15"/>
          <p:cNvSpPr/>
          <p:nvPr/>
        </p:nvSpPr>
        <p:spPr>
          <a:xfrm>
            <a:off x="8318500" y="2413000"/>
            <a:ext cx="2921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ED8936"/>
                </a:solidFill>
                <a:latin typeface="Noto Sans SC"/>
                <a:ea typeface="Noto Sans SC"/>
                <a:cs typeface="Noto Sans SC"/>
                <a:sym typeface="Noto Sans SC"/>
              </a:rPr>
              <a:t>❌ Bandit：</a:t>
            </a:r>
            <a:r>
              <a:rPr lang="en-US" sz="1100" b="0" i="0" u="none" strike="noStrike">
                <a:solidFill>
                  <a:srgbClr val="FFFFFF">
                    <a:alpha val="60000"/>
                  </a:srgbClr>
                </a:solidFill>
                <a:latin typeface="Noto Sans SC"/>
                <a:ea typeface="Noto Sans SC"/>
                <a:cs typeface="Noto Sans SC"/>
                <a:sym typeface="Noto Sans SC"/>
              </a:rPr>
              <a:t>规则固定，不支持企业自定义需求</a:t>
            </a:r>
            <a:endParaRPr lang="en-US" sz="1100"/>
          </a:p>
        </p:txBody>
      </p:sp>
      <p:sp>
        <p:nvSpPr>
          <p:cNvPr id="16" name="AutoShape 16"/>
          <p:cNvSpPr/>
          <p:nvPr/>
        </p:nvSpPr>
        <p:spPr>
          <a:xfrm>
            <a:off x="8318500" y="2984500"/>
            <a:ext cx="2921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48BB78"/>
                </a:solidFill>
                <a:latin typeface="Noto Sans SC"/>
                <a:ea typeface="Noto Sans SC"/>
                <a:cs typeface="Noto Sans SC"/>
                <a:sym typeface="Noto Sans SC"/>
              </a:rPr>
              <a:t>✅ 插件：</a:t>
            </a:r>
            <a:r>
              <a:rPr lang="en-US" sz="1100" b="0" i="0" u="none" strike="noStrike">
                <a:solidFill>
                  <a:srgbClr val="FFFFFF">
                    <a:alpha val="90196"/>
                  </a:srgbClr>
                </a:solidFill>
                <a:latin typeface="Noto Sans SC"/>
                <a:ea typeface="Noto Sans SC"/>
                <a:cs typeface="Noto Sans SC"/>
                <a:sym typeface="Noto Sans SC"/>
              </a:rPr>
              <a:t>支持 YAML 规则热加载，快速适配企业自定义敏感词库</a:t>
            </a:r>
            <a:endParaRPr lang="en-US" sz="1100"/>
          </a:p>
        </p:txBody>
      </p:sp>
      <p:sp>
        <p:nvSpPr>
          <p:cNvPr id="17" name="AutoShape 17"/>
          <p:cNvSpPr/>
          <p:nvPr/>
        </p:nvSpPr>
        <p:spPr>
          <a:xfrm>
            <a:off x="762000" y="3937000"/>
            <a:ext cx="3302000" cy="2286000"/>
          </a:xfrm>
          <a:prstGeom prst="roundRect">
            <a:avLst>
              <a:gd name="adj" fmla="val 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127500"/>
            <a:ext cx="406400" cy="406400"/>
          </a:xfrm>
          <a:prstGeom prst="rect">
            <a:avLst/>
          </a:prstGeom>
        </p:spPr>
      </p:pic>
      <p:sp>
        <p:nvSpPr>
          <p:cNvPr id="19" name="AutoShape 19"/>
          <p:cNvSpPr/>
          <p:nvPr/>
        </p:nvSpPr>
        <p:spPr>
          <a:xfrm>
            <a:off x="1524000" y="4127500"/>
            <a:ext cx="23495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双引擎精准检测</a:t>
            </a:r>
            <a:endParaRPr lang="en-US" sz="1100"/>
          </a:p>
        </p:txBody>
      </p:sp>
      <p:sp>
        <p:nvSpPr>
          <p:cNvPr id="20" name="AutoShape 20"/>
          <p:cNvSpPr/>
          <p:nvPr/>
        </p:nvSpPr>
        <p:spPr>
          <a:xfrm>
            <a:off x="952500" y="4699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100" b="0" i="0" u="none" strike="noStrike">
                <a:solidFill>
                  <a:srgbClr val="FFFFFF">
                    <a:alpha val="70196"/>
                  </a:srgbClr>
                </a:solidFill>
                <a:latin typeface="Noto Sans SC"/>
                <a:ea typeface="Noto Sans SC"/>
                <a:cs typeface="Noto Sans SC"/>
                <a:sym typeface="Noto Sans SC"/>
              </a:rPr>
              <a:t>• AST解析定位复杂结构中的硬编码信息</a:t>
            </a:r>
            <a:endParaRPr lang="en-US" sz="1100"/>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精准正则+熵值检测，有效过滤测试字符串</a:t>
            </a:r>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覆盖API密钥/JWT/数据库串等10+种敏感类型</a:t>
            </a:r>
          </a:p>
        </p:txBody>
      </p:sp>
      <p:sp>
        <p:nvSpPr>
          <p:cNvPr id="21" name="AutoShape 21"/>
          <p:cNvSpPr/>
          <p:nvPr/>
        </p:nvSpPr>
        <p:spPr>
          <a:xfrm>
            <a:off x="4445000" y="3937000"/>
            <a:ext cx="3302000" cy="2286000"/>
          </a:xfrm>
          <a:prstGeom prst="roundRect">
            <a:avLst>
              <a:gd name="adj" fmla="val 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35500" y="4127500"/>
            <a:ext cx="406400" cy="406400"/>
          </a:xfrm>
          <a:prstGeom prst="rect">
            <a:avLst/>
          </a:prstGeom>
        </p:spPr>
      </p:pic>
      <p:sp>
        <p:nvSpPr>
          <p:cNvPr id="23" name="AutoShape 23"/>
          <p:cNvSpPr/>
          <p:nvPr/>
        </p:nvSpPr>
        <p:spPr>
          <a:xfrm>
            <a:off x="5207000" y="4127500"/>
            <a:ext cx="23495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企业级灵活扩展</a:t>
            </a:r>
            <a:endParaRPr lang="en-US" sz="1100"/>
          </a:p>
        </p:txBody>
      </p:sp>
      <p:sp>
        <p:nvSpPr>
          <p:cNvPr id="24" name="AutoShape 24"/>
          <p:cNvSpPr/>
          <p:nvPr/>
        </p:nvSpPr>
        <p:spPr>
          <a:xfrm>
            <a:off x="4635500" y="4699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100" b="0" i="0" u="none" strike="noStrike">
                <a:solidFill>
                  <a:srgbClr val="FFFFFF">
                    <a:alpha val="70196"/>
                  </a:srgbClr>
                </a:solidFill>
                <a:latin typeface="Noto Sans SC"/>
                <a:ea typeface="Noto Sans SC"/>
                <a:cs typeface="Noto Sans SC"/>
                <a:sym typeface="Noto Sans SC"/>
              </a:rPr>
              <a:t>• 支持YAML自定义规则，适配金融/政务强监管</a:t>
            </a:r>
            <a:endParaRPr lang="en-US" sz="1100"/>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规则热加载，修改后3秒内生效无需重启</a:t>
            </a:r>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文件/目录/变量名等多维度白名单精准降噪</a:t>
            </a:r>
          </a:p>
        </p:txBody>
      </p:sp>
      <p:sp>
        <p:nvSpPr>
          <p:cNvPr id="25" name="AutoShape 25"/>
          <p:cNvSpPr/>
          <p:nvPr/>
        </p:nvSpPr>
        <p:spPr>
          <a:xfrm>
            <a:off x="8128000" y="3937000"/>
            <a:ext cx="3302000" cy="2286000"/>
          </a:xfrm>
          <a:prstGeom prst="roundRect">
            <a:avLst>
              <a:gd name="adj" fmla="val 6666"/>
            </a:avLst>
          </a:prstGeom>
          <a:solidFill>
            <a:srgbClr val="FFFFFF">
              <a:alpha val="10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18500" y="4127500"/>
            <a:ext cx="406400" cy="406400"/>
          </a:xfrm>
          <a:prstGeom prst="rect">
            <a:avLst/>
          </a:prstGeom>
        </p:spPr>
      </p:pic>
      <p:sp>
        <p:nvSpPr>
          <p:cNvPr id="27" name="AutoShape 27"/>
          <p:cNvSpPr/>
          <p:nvPr/>
        </p:nvSpPr>
        <p:spPr>
          <a:xfrm>
            <a:off x="8890000" y="4127500"/>
            <a:ext cx="23495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无缝 CI/CD 集成</a:t>
            </a:r>
            <a:endParaRPr lang="en-US" sz="1100"/>
          </a:p>
        </p:txBody>
      </p:sp>
      <p:sp>
        <p:nvSpPr>
          <p:cNvPr id="28" name="AutoShape 28"/>
          <p:cNvSpPr/>
          <p:nvPr/>
        </p:nvSpPr>
        <p:spPr>
          <a:xfrm>
            <a:off x="8318500" y="4699000"/>
            <a:ext cx="2921000" cy="1143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100" b="0" i="0" u="none" strike="noStrike">
                <a:solidFill>
                  <a:srgbClr val="FFFFFF">
                    <a:alpha val="70196"/>
                  </a:srgbClr>
                </a:solidFill>
                <a:latin typeface="Noto Sans SC"/>
                <a:ea typeface="Noto Sans SC"/>
                <a:cs typeface="Noto Sans SC"/>
                <a:sym typeface="Noto Sans SC"/>
              </a:rPr>
              <a:t>• 复用Bandit原生命令行与报告体系，零学习成本</a:t>
            </a:r>
            <a:endParaRPr lang="en-US" sz="1100"/>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提供GitHub Actions / GitLab CI 开箱即用模板</a:t>
            </a:r>
          </a:p>
          <a:p>
            <a:pPr indent="0" algn="l">
              <a:lnSpc>
                <a:spcPct val="116666"/>
              </a:lnSpc>
            </a:pPr>
            <a:r>
              <a:rPr lang="en-US" sz="1100" b="0" i="0" u="none" strike="noStrike">
                <a:solidFill>
                  <a:srgbClr val="FFFFFF">
                    <a:alpha val="70196"/>
                  </a:srgbClr>
                </a:solidFill>
                <a:latin typeface="Noto Sans SC"/>
                <a:ea typeface="Noto Sans SC"/>
                <a:cs typeface="Noto Sans SC"/>
                <a:sym typeface="Noto Sans SC"/>
              </a:rPr>
              <a:t>• PR提交自动扫描，高危漏洞自动阻断合并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508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系统用例图</a:t>
            </a:r>
            <a:endParaRPr lang="en-US" sz="1100"/>
          </a:p>
        </p:txBody>
      </p:sp>
      <p:sp>
        <p:nvSpPr>
          <p:cNvPr id="4" name="AutoShape 4"/>
          <p:cNvSpPr/>
          <p:nvPr/>
        </p:nvSpPr>
        <p:spPr>
          <a:xfrm>
            <a:off x="762000" y="1524000"/>
            <a:ext cx="3302000" cy="2286000"/>
          </a:xfrm>
          <a:prstGeom prst="roundRect">
            <a:avLst>
              <a:gd name="adj" fmla="val 6666"/>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1778000"/>
            <a:ext cx="711200" cy="711200"/>
          </a:xfrm>
          <a:prstGeom prst="ellipse">
            <a:avLst/>
          </a:prstGeom>
          <a:solidFill>
            <a:srgbClr val="38A169">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3800" y="1955800"/>
            <a:ext cx="355600" cy="355600"/>
          </a:xfrm>
          <a:prstGeom prst="rect">
            <a:avLst/>
          </a:prstGeom>
        </p:spPr>
      </p:pic>
      <p:sp>
        <p:nvSpPr>
          <p:cNvPr id="7" name="AutoShape 7"/>
          <p:cNvSpPr/>
          <p:nvPr/>
        </p:nvSpPr>
        <p:spPr>
          <a:xfrm>
            <a:off x="1905000" y="17780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8BB78"/>
                </a:solidFill>
                <a:latin typeface="Noto Sans SC"/>
                <a:ea typeface="Noto Sans SC"/>
                <a:cs typeface="Noto Sans SC"/>
                <a:sym typeface="Noto Sans SC"/>
              </a:rPr>
              <a:t>Python 开发者</a:t>
            </a:r>
            <a:endParaRPr lang="en-US" sz="1100"/>
          </a:p>
        </p:txBody>
      </p:sp>
      <p:sp>
        <p:nvSpPr>
          <p:cNvPr id="8" name="AutoShape 8"/>
          <p:cNvSpPr/>
          <p:nvPr/>
        </p:nvSpPr>
        <p:spPr>
          <a:xfrm>
            <a:off x="1905000" y="2286000"/>
            <a:ext cx="1905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100" b="0" i="0" u="none" strike="noStrike">
                <a:solidFill>
                  <a:srgbClr val="EBEBEB">
                    <a:alpha val="90196"/>
                  </a:srgbClr>
                </a:solidFill>
                <a:latin typeface="Noto Sans SC"/>
                <a:ea typeface="Noto Sans SC"/>
                <a:cs typeface="Noto Sans SC"/>
                <a:sym typeface="Noto Sans SC"/>
              </a:rPr>
              <a:t>• 扫描代码硬编码敏感信息</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查看插件生成的检测报告</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配置白名单过滤规则</a:t>
            </a:r>
            <a:endParaRPr lang="en-US" sz="1100"/>
          </a:p>
        </p:txBody>
      </p:sp>
      <p:sp>
        <p:nvSpPr>
          <p:cNvPr id="9" name="AutoShape 9"/>
          <p:cNvSpPr/>
          <p:nvPr/>
        </p:nvSpPr>
        <p:spPr>
          <a:xfrm>
            <a:off x="4445000" y="1524000"/>
            <a:ext cx="3302000" cy="2286000"/>
          </a:xfrm>
          <a:prstGeom prst="roundRect">
            <a:avLst>
              <a:gd name="adj" fmla="val 6666"/>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4699000" y="1778000"/>
            <a:ext cx="711200" cy="711200"/>
          </a:xfrm>
          <a:prstGeom prst="ellipse">
            <a:avLst/>
          </a:prstGeom>
          <a:solidFill>
            <a:srgbClr val="38A169">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76800" y="1955800"/>
            <a:ext cx="355600" cy="355600"/>
          </a:xfrm>
          <a:prstGeom prst="rect">
            <a:avLst/>
          </a:prstGeom>
        </p:spPr>
      </p:pic>
      <p:sp>
        <p:nvSpPr>
          <p:cNvPr id="12" name="AutoShape 12"/>
          <p:cNvSpPr/>
          <p:nvPr/>
        </p:nvSpPr>
        <p:spPr>
          <a:xfrm>
            <a:off x="5588000" y="17780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8BB78"/>
                </a:solidFill>
                <a:latin typeface="Noto Sans SC"/>
                <a:ea typeface="Noto Sans SC"/>
                <a:cs typeface="Noto Sans SC"/>
                <a:sym typeface="Noto Sans SC"/>
              </a:rPr>
              <a:t>DevOps 工程师</a:t>
            </a:r>
            <a:endParaRPr lang="en-US" sz="1100"/>
          </a:p>
        </p:txBody>
      </p:sp>
      <p:sp>
        <p:nvSpPr>
          <p:cNvPr id="13" name="AutoShape 13"/>
          <p:cNvSpPr/>
          <p:nvPr/>
        </p:nvSpPr>
        <p:spPr>
          <a:xfrm>
            <a:off x="5588000" y="2286000"/>
            <a:ext cx="1905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100" b="0" i="0" u="none" strike="noStrike">
                <a:solidFill>
                  <a:srgbClr val="EBEBEB">
                    <a:alpha val="90196"/>
                  </a:srgbClr>
                </a:solidFill>
                <a:latin typeface="Noto Sans SC"/>
                <a:ea typeface="Noto Sans SC"/>
                <a:cs typeface="Noto Sans SC"/>
                <a:sym typeface="Noto Sans SC"/>
              </a:rPr>
              <a:t>• 无缝集成到 CI/CD 流水线</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配置自动化定时扫描任务</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查看扫描性能与耗时指标</a:t>
            </a:r>
            <a:endParaRPr lang="en-US" sz="1100"/>
          </a:p>
        </p:txBody>
      </p:sp>
      <p:sp>
        <p:nvSpPr>
          <p:cNvPr id="14" name="AutoShape 14"/>
          <p:cNvSpPr/>
          <p:nvPr/>
        </p:nvSpPr>
        <p:spPr>
          <a:xfrm>
            <a:off x="8128000" y="1524000"/>
            <a:ext cx="3302000" cy="2286000"/>
          </a:xfrm>
          <a:prstGeom prst="roundRect">
            <a:avLst>
              <a:gd name="adj" fmla="val 6666"/>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8382000" y="1778000"/>
            <a:ext cx="711200" cy="711200"/>
          </a:xfrm>
          <a:prstGeom prst="ellipse">
            <a:avLst/>
          </a:prstGeom>
          <a:solidFill>
            <a:srgbClr val="38A169">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559800" y="1955800"/>
            <a:ext cx="355600" cy="355600"/>
          </a:xfrm>
          <a:prstGeom prst="rect">
            <a:avLst/>
          </a:prstGeom>
        </p:spPr>
      </p:pic>
      <p:sp>
        <p:nvSpPr>
          <p:cNvPr id="17" name="AutoShape 17"/>
          <p:cNvSpPr/>
          <p:nvPr/>
        </p:nvSpPr>
        <p:spPr>
          <a:xfrm>
            <a:off x="9271000" y="1778000"/>
            <a:ext cx="190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8BB78"/>
                </a:solidFill>
                <a:latin typeface="Noto Sans SC"/>
                <a:ea typeface="Noto Sans SC"/>
                <a:cs typeface="Noto Sans SC"/>
                <a:sym typeface="Noto Sans SC"/>
              </a:rPr>
              <a:t>安全审计师</a:t>
            </a:r>
            <a:endParaRPr lang="en-US" sz="1100"/>
          </a:p>
        </p:txBody>
      </p:sp>
      <p:sp>
        <p:nvSpPr>
          <p:cNvPr id="18" name="AutoShape 18"/>
          <p:cNvSpPr/>
          <p:nvPr/>
        </p:nvSpPr>
        <p:spPr>
          <a:xfrm>
            <a:off x="9271000" y="2286000"/>
            <a:ext cx="1905000" cy="1143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100" b="0" i="0" u="none" strike="noStrike">
                <a:solidFill>
                  <a:srgbClr val="EBEBEB">
                    <a:alpha val="90196"/>
                  </a:srgbClr>
                </a:solidFill>
                <a:latin typeface="Noto Sans SC"/>
                <a:ea typeface="Noto Sans SC"/>
                <a:cs typeface="Noto Sans SC"/>
                <a:sym typeface="Noto Sans SC"/>
              </a:rPr>
              <a:t>• 批量扫描企业多个项目代码</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生成符合规范的合规审计报告</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留存与回溯历史扫描记录</a:t>
            </a:r>
            <a:endParaRPr lang="en-US" sz="1100"/>
          </a:p>
        </p:txBody>
      </p:sp>
      <p:sp>
        <p:nvSpPr>
          <p:cNvPr id="19" name="AutoShape 19"/>
          <p:cNvSpPr/>
          <p:nvPr/>
        </p:nvSpPr>
        <p:spPr>
          <a:xfrm>
            <a:off x="762000" y="4064000"/>
            <a:ext cx="5207000" cy="2032000"/>
          </a:xfrm>
          <a:prstGeom prst="roundRect">
            <a:avLst>
              <a:gd name="adj" fmla="val 7500"/>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1016000" y="4381500"/>
            <a:ext cx="812800" cy="812800"/>
          </a:xfrm>
          <a:prstGeom prst="ellipse">
            <a:avLst/>
          </a:prstGeom>
          <a:solidFill>
            <a:srgbClr val="38A169">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70000" y="4635500"/>
            <a:ext cx="304800" cy="304800"/>
          </a:xfrm>
          <a:prstGeom prst="rect">
            <a:avLst/>
          </a:prstGeom>
        </p:spPr>
      </p:pic>
      <p:sp>
        <p:nvSpPr>
          <p:cNvPr id="22" name="AutoShape 22"/>
          <p:cNvSpPr/>
          <p:nvPr/>
        </p:nvSpPr>
        <p:spPr>
          <a:xfrm>
            <a:off x="2095500" y="438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8BB78"/>
                </a:solidFill>
                <a:latin typeface="Noto Sans SC"/>
                <a:ea typeface="Noto Sans SC"/>
                <a:cs typeface="Noto Sans SC"/>
                <a:sym typeface="Noto Sans SC"/>
              </a:rPr>
              <a:t>安全负责人 (Security Lead)</a:t>
            </a:r>
            <a:endParaRPr lang="en-US" sz="1100"/>
          </a:p>
        </p:txBody>
      </p:sp>
      <p:sp>
        <p:nvSpPr>
          <p:cNvPr id="23" name="AutoShape 23"/>
          <p:cNvSpPr/>
          <p:nvPr/>
        </p:nvSpPr>
        <p:spPr>
          <a:xfrm>
            <a:off x="2095500" y="49530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100" b="0" i="0" u="none" strike="noStrike">
                <a:solidFill>
                  <a:srgbClr val="EBEBEB">
                    <a:alpha val="90196"/>
                  </a:srgbClr>
                </a:solidFill>
                <a:latin typeface="Noto Sans SC"/>
                <a:ea typeface="Noto Sans SC"/>
                <a:cs typeface="Noto Sans SC"/>
                <a:sym typeface="Noto Sans SC"/>
              </a:rPr>
              <a:t>• 自定义企业级敏感词检测规则库</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配置风险等级划分标准与处置流程</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统一管理全局规则分类与版本</a:t>
            </a:r>
            <a:endParaRPr lang="en-US" sz="1100"/>
          </a:p>
        </p:txBody>
      </p:sp>
      <p:sp>
        <p:nvSpPr>
          <p:cNvPr id="24" name="AutoShape 24"/>
          <p:cNvSpPr/>
          <p:nvPr/>
        </p:nvSpPr>
        <p:spPr>
          <a:xfrm>
            <a:off x="6223000" y="4064000"/>
            <a:ext cx="5207000" cy="2032000"/>
          </a:xfrm>
          <a:prstGeom prst="roundRect">
            <a:avLst>
              <a:gd name="adj" fmla="val 7500"/>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477000" y="4381500"/>
            <a:ext cx="812800" cy="812800"/>
          </a:xfrm>
          <a:prstGeom prst="ellipse">
            <a:avLst/>
          </a:prstGeom>
          <a:solidFill>
            <a:srgbClr val="38A169">
              <a:alpha val="1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731000" y="4635500"/>
            <a:ext cx="304800" cy="304800"/>
          </a:xfrm>
          <a:prstGeom prst="rect">
            <a:avLst/>
          </a:prstGeom>
        </p:spPr>
      </p:pic>
      <p:sp>
        <p:nvSpPr>
          <p:cNvPr id="27" name="AutoShape 27"/>
          <p:cNvSpPr/>
          <p:nvPr/>
        </p:nvSpPr>
        <p:spPr>
          <a:xfrm>
            <a:off x="7556500" y="4381500"/>
            <a:ext cx="355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48BB78"/>
                </a:solidFill>
                <a:latin typeface="Noto Sans SC"/>
                <a:ea typeface="Noto Sans SC"/>
                <a:cs typeface="Noto Sans SC"/>
                <a:sym typeface="Noto Sans SC"/>
              </a:rPr>
              <a:t>开源社区贡献者 (Contributor)</a:t>
            </a:r>
            <a:endParaRPr lang="en-US" sz="1100"/>
          </a:p>
        </p:txBody>
      </p:sp>
      <p:sp>
        <p:nvSpPr>
          <p:cNvPr id="28" name="AutoShape 28"/>
          <p:cNvSpPr/>
          <p:nvPr/>
        </p:nvSpPr>
        <p:spPr>
          <a:xfrm>
            <a:off x="7556500" y="4953000"/>
            <a:ext cx="3556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100" b="0" i="0" u="none" strike="noStrike">
                <a:solidFill>
                  <a:srgbClr val="EBEBEB">
                    <a:alpha val="90196"/>
                  </a:srgbClr>
                </a:solidFill>
                <a:latin typeface="Noto Sans SC"/>
                <a:ea typeface="Noto Sans SC"/>
                <a:cs typeface="Noto Sans SC"/>
                <a:sym typeface="Noto Sans SC"/>
              </a:rPr>
              <a:t>• 启用调试模式，可视化查看 AST 解析过程</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基于插件接口优化自定义规则的匹配逻辑</a:t>
            </a:r>
            <a:br>
              <a:rPr lang="en-US" sz="1100" b="0" i="0" u="none" strike="noStrike">
                <a:solidFill>
                  <a:srgbClr val="EBEBEB">
                    <a:alpha val="90196"/>
                  </a:srgbClr>
                </a:solidFill>
                <a:latin typeface="Noto Sans SC"/>
                <a:ea typeface="Noto Sans SC"/>
                <a:cs typeface="Noto Sans SC"/>
                <a:sym typeface="Noto Sans SC"/>
              </a:rPr>
            </a:br>
            <a:r>
              <a:rPr lang="en-US" sz="1100" b="0" i="0" u="none" strike="noStrike">
                <a:solidFill>
                  <a:srgbClr val="EBEBEB">
                    <a:alpha val="90196"/>
                  </a:srgbClr>
                </a:solidFill>
                <a:latin typeface="Noto Sans SC"/>
                <a:ea typeface="Noto Sans SC"/>
                <a:cs typeface="Noto Sans SC"/>
                <a:sym typeface="Noto Sans SC"/>
              </a:rPr>
              <a:t>• 参与核心规则集的共建与迭代更新</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八大核心功能，全面守护代码安全</a:t>
            </a:r>
            <a:endParaRPr lang="en-US" sz="1100"/>
          </a:p>
        </p:txBody>
      </p:sp>
      <p:sp>
        <p:nvSpPr>
          <p:cNvPr id="4" name="AutoShape 4"/>
          <p:cNvSpPr/>
          <p:nvPr/>
        </p:nvSpPr>
        <p:spPr>
          <a:xfrm>
            <a:off x="762000" y="13970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核心功能 (Must Have · 第 10 周交付)</a:t>
            </a:r>
            <a:endParaRPr lang="en-US" sz="1100"/>
          </a:p>
        </p:txBody>
      </p:sp>
      <p:sp>
        <p:nvSpPr>
          <p:cNvPr id="5" name="AutoShape 5"/>
          <p:cNvSpPr/>
          <p:nvPr/>
        </p:nvSpPr>
        <p:spPr>
          <a:xfrm>
            <a:off x="762000" y="19050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21336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4900" y="2286000"/>
            <a:ext cx="304800" cy="304800"/>
          </a:xfrm>
          <a:prstGeom prst="rect">
            <a:avLst/>
          </a:prstGeom>
        </p:spPr>
      </p:pic>
      <p:sp>
        <p:nvSpPr>
          <p:cNvPr id="8" name="AutoShape 8"/>
          <p:cNvSpPr/>
          <p:nvPr/>
        </p:nvSpPr>
        <p:spPr>
          <a:xfrm>
            <a:off x="1778000" y="2032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敏感信息精准检测</a:t>
            </a:r>
            <a:endParaRPr lang="en-US" sz="1100"/>
          </a:p>
        </p:txBody>
      </p:sp>
      <p:sp>
        <p:nvSpPr>
          <p:cNvPr id="9" name="AutoShape 9"/>
          <p:cNvSpPr/>
          <p:nvPr/>
        </p:nvSpPr>
        <p:spPr>
          <a:xfrm>
            <a:off x="1778000" y="23622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AST + 正则双引擎驱动，覆盖 10+ 敏感数据类型</a:t>
            </a:r>
            <a:endParaRPr lang="en-US" sz="1100"/>
          </a:p>
        </p:txBody>
      </p:sp>
      <p:sp>
        <p:nvSpPr>
          <p:cNvPr id="10" name="AutoShape 10"/>
          <p:cNvSpPr/>
          <p:nvPr/>
        </p:nvSpPr>
        <p:spPr>
          <a:xfrm>
            <a:off x="1778000" y="26670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指标：覆盖率≥90% | 误报≤5% | 漏报≤3%</a:t>
            </a:r>
            <a:endParaRPr lang="en-US" sz="1100"/>
          </a:p>
        </p:txBody>
      </p:sp>
      <p:sp>
        <p:nvSpPr>
          <p:cNvPr id="11" name="AutoShape 11"/>
          <p:cNvSpPr/>
          <p:nvPr/>
        </p:nvSpPr>
        <p:spPr>
          <a:xfrm>
            <a:off x="762000" y="31115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952500" y="33401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04900" y="3492500"/>
            <a:ext cx="304800" cy="304800"/>
          </a:xfrm>
          <a:prstGeom prst="rect">
            <a:avLst/>
          </a:prstGeom>
        </p:spPr>
      </p:pic>
      <p:sp>
        <p:nvSpPr>
          <p:cNvPr id="14" name="AutoShape 14"/>
          <p:cNvSpPr/>
          <p:nvPr/>
        </p:nvSpPr>
        <p:spPr>
          <a:xfrm>
            <a:off x="1778000" y="3238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高性能代码扫描</a:t>
            </a:r>
            <a:endParaRPr lang="en-US" sz="1100"/>
          </a:p>
        </p:txBody>
      </p:sp>
      <p:sp>
        <p:nvSpPr>
          <p:cNvPr id="15" name="AutoShape 15"/>
          <p:cNvSpPr/>
          <p:nvPr/>
        </p:nvSpPr>
        <p:spPr>
          <a:xfrm>
            <a:off x="1778000" y="35687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懒加载规则库 + 增量扫描机制，拒绝重复计算</a:t>
            </a:r>
            <a:endParaRPr lang="en-US" sz="1100"/>
          </a:p>
        </p:txBody>
      </p:sp>
      <p:sp>
        <p:nvSpPr>
          <p:cNvPr id="16" name="AutoShape 16"/>
          <p:cNvSpPr/>
          <p:nvPr/>
        </p:nvSpPr>
        <p:spPr>
          <a:xfrm>
            <a:off x="1778000" y="38735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指标：扫描速度≥1000行/秒 | 内存占用≤512MB</a:t>
            </a:r>
            <a:endParaRPr lang="en-US" sz="1100"/>
          </a:p>
        </p:txBody>
      </p:sp>
      <p:sp>
        <p:nvSpPr>
          <p:cNvPr id="17" name="AutoShape 17"/>
          <p:cNvSpPr/>
          <p:nvPr/>
        </p:nvSpPr>
        <p:spPr>
          <a:xfrm>
            <a:off x="762000" y="43180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52500" y="45466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04900" y="4699000"/>
            <a:ext cx="304800" cy="304800"/>
          </a:xfrm>
          <a:prstGeom prst="rect">
            <a:avLst/>
          </a:prstGeom>
        </p:spPr>
      </p:pic>
      <p:sp>
        <p:nvSpPr>
          <p:cNvPr id="20" name="AutoShape 20"/>
          <p:cNvSpPr/>
          <p:nvPr/>
        </p:nvSpPr>
        <p:spPr>
          <a:xfrm>
            <a:off x="1778000" y="4445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生态兼容性适配</a:t>
            </a:r>
            <a:endParaRPr lang="en-US" sz="1100"/>
          </a:p>
        </p:txBody>
      </p:sp>
      <p:sp>
        <p:nvSpPr>
          <p:cNvPr id="21" name="AutoShape 21"/>
          <p:cNvSpPr/>
          <p:nvPr/>
        </p:nvSpPr>
        <p:spPr>
          <a:xfrm>
            <a:off x="1778000" y="47752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无缝集成 Bandit 开源生态，复用成熟检测规则</a:t>
            </a:r>
            <a:endParaRPr lang="en-US" sz="1100"/>
          </a:p>
        </p:txBody>
      </p:sp>
      <p:sp>
        <p:nvSpPr>
          <p:cNvPr id="22" name="AutoShape 22"/>
          <p:cNvSpPr/>
          <p:nvPr/>
        </p:nvSpPr>
        <p:spPr>
          <a:xfrm>
            <a:off x="1778000" y="50800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指标：Python 3.10+ &amp; Bandit 1.7.0+ 全版本兼容</a:t>
            </a:r>
            <a:endParaRPr lang="en-US" sz="1100"/>
          </a:p>
        </p:txBody>
      </p:sp>
      <p:sp>
        <p:nvSpPr>
          <p:cNvPr id="23" name="AutoShape 23"/>
          <p:cNvSpPr/>
          <p:nvPr/>
        </p:nvSpPr>
        <p:spPr>
          <a:xfrm>
            <a:off x="762000" y="55245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52500" y="57531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04900" y="5905500"/>
            <a:ext cx="304800" cy="304800"/>
          </a:xfrm>
          <a:prstGeom prst="rect">
            <a:avLst/>
          </a:prstGeom>
        </p:spPr>
      </p:pic>
      <p:sp>
        <p:nvSpPr>
          <p:cNvPr id="26" name="AutoShape 26"/>
          <p:cNvSpPr/>
          <p:nvPr/>
        </p:nvSpPr>
        <p:spPr>
          <a:xfrm>
            <a:off x="1778000" y="5651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零门槛基础使用</a:t>
            </a:r>
            <a:endParaRPr lang="en-US" sz="1100"/>
          </a:p>
        </p:txBody>
      </p:sp>
      <p:sp>
        <p:nvSpPr>
          <p:cNvPr id="27" name="AutoShape 27"/>
          <p:cNvSpPr/>
          <p:nvPr/>
        </p:nvSpPr>
        <p:spPr>
          <a:xfrm>
            <a:off x="1778000" y="59817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提供原生命令行工具 + 可视化配置文件支持</a:t>
            </a:r>
            <a:endParaRPr lang="en-US" sz="1100"/>
          </a:p>
        </p:txBody>
      </p:sp>
      <p:sp>
        <p:nvSpPr>
          <p:cNvPr id="28" name="AutoShape 28"/>
          <p:cNvSpPr/>
          <p:nvPr/>
        </p:nvSpPr>
        <p:spPr>
          <a:xfrm>
            <a:off x="1778000" y="62865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价值：零学习成本上手，错误提示语义化清晰</a:t>
            </a:r>
            <a:endParaRPr lang="en-US" sz="1100"/>
          </a:p>
        </p:txBody>
      </p:sp>
      <p:sp>
        <p:nvSpPr>
          <p:cNvPr id="29" name="AutoShape 29"/>
          <p:cNvSpPr/>
          <p:nvPr/>
        </p:nvSpPr>
        <p:spPr>
          <a:xfrm>
            <a:off x="6223000" y="1397000"/>
            <a:ext cx="520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扩展功能 (Should Have · 第 11 周交付)</a:t>
            </a:r>
            <a:endParaRPr lang="en-US" sz="1100"/>
          </a:p>
        </p:txBody>
      </p:sp>
      <p:sp>
        <p:nvSpPr>
          <p:cNvPr id="30" name="AutoShape 30"/>
          <p:cNvSpPr/>
          <p:nvPr/>
        </p:nvSpPr>
        <p:spPr>
          <a:xfrm>
            <a:off x="6223000" y="19050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413500" y="21336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65900" y="2286000"/>
            <a:ext cx="304800" cy="304800"/>
          </a:xfrm>
          <a:prstGeom prst="rect">
            <a:avLst/>
          </a:prstGeom>
        </p:spPr>
      </p:pic>
      <p:sp>
        <p:nvSpPr>
          <p:cNvPr id="33" name="AutoShape 33"/>
          <p:cNvSpPr/>
          <p:nvPr/>
        </p:nvSpPr>
        <p:spPr>
          <a:xfrm>
            <a:off x="7239000" y="2032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检测规则自定义</a:t>
            </a:r>
            <a:endParaRPr lang="en-US" sz="1100"/>
          </a:p>
        </p:txBody>
      </p:sp>
      <p:sp>
        <p:nvSpPr>
          <p:cNvPr id="34" name="AutoShape 34"/>
          <p:cNvSpPr/>
          <p:nvPr/>
        </p:nvSpPr>
        <p:spPr>
          <a:xfrm>
            <a:off x="7239000" y="23622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支持 YAML 规则热加载，支持规则分类与版本管理</a:t>
            </a:r>
            <a:endParaRPr lang="en-US" sz="1100"/>
          </a:p>
        </p:txBody>
      </p:sp>
      <p:sp>
        <p:nvSpPr>
          <p:cNvPr id="35" name="AutoShape 35"/>
          <p:cNvSpPr/>
          <p:nvPr/>
        </p:nvSpPr>
        <p:spPr>
          <a:xfrm>
            <a:off x="7239000" y="26670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价值：灵活适配企业个性化安全合规与质检需求</a:t>
            </a:r>
            <a:endParaRPr lang="en-US" sz="1100"/>
          </a:p>
        </p:txBody>
      </p:sp>
      <p:sp>
        <p:nvSpPr>
          <p:cNvPr id="36" name="AutoShape 36"/>
          <p:cNvSpPr/>
          <p:nvPr/>
        </p:nvSpPr>
        <p:spPr>
          <a:xfrm>
            <a:off x="6223000" y="31115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413500" y="33401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8" name="Picture 38"/>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565900" y="3492500"/>
            <a:ext cx="304800" cy="304800"/>
          </a:xfrm>
          <a:prstGeom prst="rect">
            <a:avLst/>
          </a:prstGeom>
        </p:spPr>
      </p:pic>
      <p:sp>
        <p:nvSpPr>
          <p:cNvPr id="39" name="AutoShape 39"/>
          <p:cNvSpPr/>
          <p:nvPr/>
        </p:nvSpPr>
        <p:spPr>
          <a:xfrm>
            <a:off x="7239000" y="3238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智能白名单过滤</a:t>
            </a:r>
            <a:endParaRPr lang="en-US" sz="1100"/>
          </a:p>
        </p:txBody>
      </p:sp>
      <p:sp>
        <p:nvSpPr>
          <p:cNvPr id="40" name="AutoShape 40"/>
          <p:cNvSpPr/>
          <p:nvPr/>
        </p:nvSpPr>
        <p:spPr>
          <a:xfrm>
            <a:off x="7239000" y="35687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覆盖文件/目录路径、变量名、关键词等四个维度</a:t>
            </a:r>
            <a:endParaRPr lang="en-US" sz="1100"/>
          </a:p>
        </p:txBody>
      </p:sp>
      <p:sp>
        <p:nvSpPr>
          <p:cNvPr id="41" name="AutoShape 41"/>
          <p:cNvSpPr/>
          <p:nvPr/>
        </p:nvSpPr>
        <p:spPr>
          <a:xfrm>
            <a:off x="7239000" y="38735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价值：自动化剔除误报，大幅降低人工复核成本</a:t>
            </a:r>
            <a:endParaRPr lang="en-US" sz="1100"/>
          </a:p>
        </p:txBody>
      </p:sp>
      <p:sp>
        <p:nvSpPr>
          <p:cNvPr id="42" name="AutoShape 42"/>
          <p:cNvSpPr/>
          <p:nvPr/>
        </p:nvSpPr>
        <p:spPr>
          <a:xfrm>
            <a:off x="6223000" y="43180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413500" y="45466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44" name="Picture 44"/>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565900" y="4699000"/>
            <a:ext cx="304800" cy="304800"/>
          </a:xfrm>
          <a:prstGeom prst="rect">
            <a:avLst/>
          </a:prstGeom>
        </p:spPr>
      </p:pic>
      <p:sp>
        <p:nvSpPr>
          <p:cNvPr id="45" name="AutoShape 45"/>
          <p:cNvSpPr/>
          <p:nvPr/>
        </p:nvSpPr>
        <p:spPr>
          <a:xfrm>
            <a:off x="7239000" y="44450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工程化扫描优化</a:t>
            </a:r>
            <a:endParaRPr lang="en-US" sz="1100"/>
          </a:p>
        </p:txBody>
      </p:sp>
      <p:sp>
        <p:nvSpPr>
          <p:cNvPr id="46" name="AutoShape 46"/>
          <p:cNvSpPr/>
          <p:nvPr/>
        </p:nvSpPr>
        <p:spPr>
          <a:xfrm>
            <a:off x="7239000" y="47752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支持风险等级自定义，深度集成 CI/CD 流水线</a:t>
            </a:r>
            <a:endParaRPr lang="en-US" sz="1100"/>
          </a:p>
        </p:txBody>
      </p:sp>
      <p:sp>
        <p:nvSpPr>
          <p:cNvPr id="47" name="AutoShape 47"/>
          <p:cNvSpPr/>
          <p:nvPr/>
        </p:nvSpPr>
        <p:spPr>
          <a:xfrm>
            <a:off x="7239000" y="50800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价值：提供 GitHub / GitLab CI 开箱即用模板</a:t>
            </a:r>
            <a:endParaRPr lang="en-US" sz="1100"/>
          </a:p>
        </p:txBody>
      </p:sp>
      <p:sp>
        <p:nvSpPr>
          <p:cNvPr id="48" name="AutoShape 48"/>
          <p:cNvSpPr/>
          <p:nvPr/>
        </p:nvSpPr>
        <p:spPr>
          <a:xfrm>
            <a:off x="6223000" y="5524500"/>
            <a:ext cx="5207000" cy="1079500"/>
          </a:xfrm>
          <a:prstGeom prst="roundRect">
            <a:avLst>
              <a:gd name="adj" fmla="val 11764"/>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49" name="AutoShape 49"/>
          <p:cNvSpPr/>
          <p:nvPr/>
        </p:nvSpPr>
        <p:spPr>
          <a:xfrm>
            <a:off x="6413500" y="5753100"/>
            <a:ext cx="609600" cy="609600"/>
          </a:xfrm>
          <a:prstGeom prst="ellipse">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0" name="Picture 50"/>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565900" y="5905500"/>
            <a:ext cx="304800" cy="304800"/>
          </a:xfrm>
          <a:prstGeom prst="rect">
            <a:avLst/>
          </a:prstGeom>
        </p:spPr>
      </p:pic>
      <p:sp>
        <p:nvSpPr>
          <p:cNvPr id="51" name="AutoShape 51"/>
          <p:cNvSpPr/>
          <p:nvPr/>
        </p:nvSpPr>
        <p:spPr>
          <a:xfrm>
            <a:off x="7239000" y="5651500"/>
            <a:ext cx="3937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FFFFF"/>
                </a:solidFill>
                <a:latin typeface="Noto Sans SC"/>
                <a:ea typeface="Noto Sans SC"/>
                <a:cs typeface="Noto Sans SC"/>
                <a:sym typeface="Noto Sans SC"/>
              </a:rPr>
              <a:t>全链路辅助功能</a:t>
            </a:r>
            <a:endParaRPr lang="en-US" sz="1100"/>
          </a:p>
        </p:txBody>
      </p:sp>
      <p:sp>
        <p:nvSpPr>
          <p:cNvPr id="52" name="AutoShape 52"/>
          <p:cNvSpPr/>
          <p:nvPr/>
        </p:nvSpPr>
        <p:spPr>
          <a:xfrm>
            <a:off x="7239000" y="59817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E2E8F0">
                    <a:alpha val="70196"/>
                  </a:srgbClr>
                </a:solidFill>
                <a:latin typeface="Noto Sans SC"/>
                <a:ea typeface="Noto Sans SC"/>
                <a:cs typeface="Noto Sans SC"/>
                <a:sym typeface="Noto Sans SC"/>
              </a:rPr>
              <a:t>完整保留历史扫描记录，提供 Debug 调试模式</a:t>
            </a:r>
            <a:endParaRPr lang="en-US" sz="1100"/>
          </a:p>
        </p:txBody>
      </p:sp>
      <p:sp>
        <p:nvSpPr>
          <p:cNvPr id="53" name="AutoShape 53"/>
          <p:cNvSpPr/>
          <p:nvPr/>
        </p:nvSpPr>
        <p:spPr>
          <a:xfrm>
            <a:off x="7239000" y="6286500"/>
            <a:ext cx="3937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1" i="0" u="none" strike="noStrike">
                <a:solidFill>
                  <a:srgbClr val="38A169"/>
                </a:solidFill>
                <a:latin typeface="Noto Sans SC"/>
                <a:ea typeface="Noto Sans SC"/>
                <a:cs typeface="Noto Sans SC"/>
                <a:sym typeface="Noto Sans SC"/>
              </a:rPr>
              <a:t>价值：便于安全事件审计追溯与复杂问题排查</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技术架构与核心类图</a:t>
            </a:r>
            <a:endParaRPr lang="en-US" sz="1100"/>
          </a:p>
        </p:txBody>
      </p:sp>
      <p:sp>
        <p:nvSpPr>
          <p:cNvPr id="4" name="AutoShape 4"/>
          <p:cNvSpPr/>
          <p:nvPr/>
        </p:nvSpPr>
        <p:spPr>
          <a:xfrm>
            <a:off x="762000" y="1524000"/>
            <a:ext cx="3302000" cy="4572000"/>
          </a:xfrm>
          <a:prstGeom prst="roundRect">
            <a:avLst>
              <a:gd name="adj" fmla="val 4615"/>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406400" cy="406400"/>
          </a:xfrm>
          <a:prstGeom prst="rect">
            <a:avLst/>
          </a:prstGeom>
        </p:spPr>
      </p:pic>
      <p:sp>
        <p:nvSpPr>
          <p:cNvPr id="6" name="AutoShape 6"/>
          <p:cNvSpPr/>
          <p:nvPr/>
        </p:nvSpPr>
        <p:spPr>
          <a:xfrm>
            <a:off x="1587500" y="1778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核心技术栈</a:t>
            </a:r>
            <a:endParaRPr lang="en-US" sz="1100"/>
          </a:p>
        </p:txBody>
      </p:sp>
      <p:cxnSp>
        <p:nvCxnSpPr>
          <p:cNvPr id="7" name="Connector 7"/>
          <p:cNvCxnSpPr/>
          <p:nvPr/>
        </p:nvCxnSpPr>
        <p:spPr>
          <a:xfrm rot="-15626">
            <a:off x="1016014" y="2406650"/>
            <a:ext cx="2794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8" name="AutoShape 8"/>
          <p:cNvSpPr/>
          <p:nvPr/>
        </p:nvSpPr>
        <p:spPr>
          <a:xfrm>
            <a:off x="1016000" y="2667000"/>
            <a:ext cx="2794000" cy="762000"/>
          </a:xfrm>
          <a:prstGeom prst="roundRect">
            <a:avLst>
              <a:gd name="adj" fmla="val 13333"/>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1143000" y="2768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静态分析引擎</a:t>
            </a:r>
            <a:endParaRPr lang="en-US" sz="1100"/>
          </a:p>
        </p:txBody>
      </p:sp>
      <p:sp>
        <p:nvSpPr>
          <p:cNvPr id="10" name="AutoShape 10"/>
          <p:cNvSpPr/>
          <p:nvPr/>
        </p:nvSpPr>
        <p:spPr>
          <a:xfrm>
            <a:off x="1143000" y="3073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基于 Python AST 抽象语法树，深度遍历代码节点</a:t>
            </a:r>
            <a:endParaRPr lang="en-US" sz="1100"/>
          </a:p>
        </p:txBody>
      </p:sp>
      <p:sp>
        <p:nvSpPr>
          <p:cNvPr id="11" name="AutoShape 11"/>
          <p:cNvSpPr/>
          <p:nvPr/>
        </p:nvSpPr>
        <p:spPr>
          <a:xfrm>
            <a:off x="1016000" y="3556000"/>
            <a:ext cx="2794000" cy="762000"/>
          </a:xfrm>
          <a:prstGeom prst="roundRect">
            <a:avLst>
              <a:gd name="adj" fmla="val 13333"/>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43000" y="3657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智能规则匹配</a:t>
            </a:r>
            <a:endParaRPr lang="en-US" sz="1100"/>
          </a:p>
        </p:txBody>
      </p:sp>
      <p:sp>
        <p:nvSpPr>
          <p:cNvPr id="13" name="AutoShape 13"/>
          <p:cNvSpPr/>
          <p:nvPr/>
        </p:nvSpPr>
        <p:spPr>
          <a:xfrm>
            <a:off x="1143000" y="3962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精准正则匹配 + 熵值分析，降低误报率</a:t>
            </a:r>
            <a:endParaRPr lang="en-US" sz="1100"/>
          </a:p>
        </p:txBody>
      </p:sp>
      <p:sp>
        <p:nvSpPr>
          <p:cNvPr id="14" name="AutoShape 14"/>
          <p:cNvSpPr/>
          <p:nvPr/>
        </p:nvSpPr>
        <p:spPr>
          <a:xfrm>
            <a:off x="1016000" y="4445000"/>
            <a:ext cx="2794000" cy="762000"/>
          </a:xfrm>
          <a:prstGeom prst="roundRect">
            <a:avLst>
              <a:gd name="adj" fmla="val 13333"/>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143000" y="4546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质量保障体系</a:t>
            </a:r>
            <a:endParaRPr lang="en-US" sz="1100"/>
          </a:p>
        </p:txBody>
      </p:sp>
      <p:sp>
        <p:nvSpPr>
          <p:cNvPr id="16" name="AutoShape 16"/>
          <p:cNvSpPr/>
          <p:nvPr/>
        </p:nvSpPr>
        <p:spPr>
          <a:xfrm>
            <a:off x="1143000" y="48514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Pytest 单元/集成测试 + GitHub Actions CI/CD</a:t>
            </a:r>
            <a:endParaRPr lang="en-US" sz="1100"/>
          </a:p>
        </p:txBody>
      </p:sp>
      <p:sp>
        <p:nvSpPr>
          <p:cNvPr id="17" name="AutoShape 17"/>
          <p:cNvSpPr/>
          <p:nvPr/>
        </p:nvSpPr>
        <p:spPr>
          <a:xfrm>
            <a:off x="4445000" y="1524000"/>
            <a:ext cx="3302000" cy="4572000"/>
          </a:xfrm>
          <a:prstGeom prst="roundRect">
            <a:avLst>
              <a:gd name="adj" fmla="val 4615"/>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406400" cy="406400"/>
          </a:xfrm>
          <a:prstGeom prst="rect">
            <a:avLst/>
          </a:prstGeom>
        </p:spPr>
      </p:pic>
      <p:sp>
        <p:nvSpPr>
          <p:cNvPr id="19" name="AutoShape 19"/>
          <p:cNvSpPr/>
          <p:nvPr/>
        </p:nvSpPr>
        <p:spPr>
          <a:xfrm>
            <a:off x="5270500" y="1778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核心类图结构</a:t>
            </a:r>
            <a:endParaRPr lang="en-US" sz="1100"/>
          </a:p>
        </p:txBody>
      </p:sp>
      <p:cxnSp>
        <p:nvCxnSpPr>
          <p:cNvPr id="20" name="Connector 20"/>
          <p:cNvCxnSpPr/>
          <p:nvPr/>
        </p:nvCxnSpPr>
        <p:spPr>
          <a:xfrm rot="-15626">
            <a:off x="4699014" y="2406650"/>
            <a:ext cx="2794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21" name="AutoShape 21"/>
          <p:cNvSpPr/>
          <p:nvPr/>
        </p:nvSpPr>
        <p:spPr>
          <a:xfrm>
            <a:off x="4699000" y="2667000"/>
            <a:ext cx="2794000" cy="1079500"/>
          </a:xfrm>
          <a:prstGeom prst="roundRect">
            <a:avLst>
              <a:gd name="adj" fmla="val 9411"/>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4826000" y="2768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8BB78"/>
                </a:solidFill>
                <a:latin typeface="Noto Sans SC"/>
                <a:ea typeface="Noto Sans SC"/>
                <a:cs typeface="Noto Sans SC"/>
                <a:sym typeface="Noto Sans SC"/>
              </a:rPr>
              <a:t>插件入口与检测基类</a:t>
            </a:r>
            <a:endParaRPr lang="en-US" sz="1100"/>
          </a:p>
        </p:txBody>
      </p:sp>
      <p:sp>
        <p:nvSpPr>
          <p:cNvPr id="23" name="AutoShape 23"/>
          <p:cNvSpPr/>
          <p:nvPr/>
        </p:nvSpPr>
        <p:spPr>
          <a:xfrm>
            <a:off x="4826000" y="3073400"/>
            <a:ext cx="2540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solidFill>
                <a:latin typeface="Noto Sans SC"/>
                <a:ea typeface="Noto Sans SC"/>
                <a:cs typeface="Noto Sans SC"/>
                <a:sym typeface="Noto Sans SC"/>
              </a:rPr>
              <a:t>SensitiveInfoPlugin 加载配置；BaseChecker 定义标准检测接口，所有检测器继承于此。</a:t>
            </a:r>
            <a:endParaRPr lang="en-US" sz="1100"/>
          </a:p>
        </p:txBody>
      </p:sp>
      <p:sp>
        <p:nvSpPr>
          <p:cNvPr id="24" name="AutoShape 24"/>
          <p:cNvSpPr/>
          <p:nvPr/>
        </p:nvSpPr>
        <p:spPr>
          <a:xfrm>
            <a:off x="4699000" y="3873500"/>
            <a:ext cx="2794000" cy="1079500"/>
          </a:xfrm>
          <a:prstGeom prst="roundRect">
            <a:avLst>
              <a:gd name="adj" fmla="val 9411"/>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4826000" y="39751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8BB78"/>
                </a:solidFill>
                <a:latin typeface="Noto Sans SC"/>
                <a:ea typeface="Noto Sans SC"/>
                <a:cs typeface="Noto Sans SC"/>
                <a:sym typeface="Noto Sans SC"/>
              </a:rPr>
              <a:t>功能模块与分析工具</a:t>
            </a:r>
            <a:endParaRPr lang="en-US" sz="1100"/>
          </a:p>
        </p:txBody>
      </p:sp>
      <p:sp>
        <p:nvSpPr>
          <p:cNvPr id="26" name="AutoShape 26"/>
          <p:cNvSpPr/>
          <p:nvPr/>
        </p:nvSpPr>
        <p:spPr>
          <a:xfrm>
            <a:off x="4826000" y="4279900"/>
            <a:ext cx="2540000" cy="571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100" b="0" i="0" u="none" strike="noStrike">
                <a:solidFill>
                  <a:srgbClr val="CBD5E1"/>
                </a:solidFill>
                <a:latin typeface="Noto Sans SC"/>
                <a:ea typeface="Noto Sans SC"/>
                <a:cs typeface="Noto Sans SC"/>
                <a:sym typeface="Noto Sans SC"/>
              </a:rPr>
              <a:t>ConfigLoader 加载YAML；ContextAnalyzer/EntropyAnalyzer 提供独立分析能力；白名单管理。</a:t>
            </a:r>
            <a:endParaRPr lang="en-US" sz="1100"/>
          </a:p>
        </p:txBody>
      </p:sp>
      <p:sp>
        <p:nvSpPr>
          <p:cNvPr id="27" name="AutoShape 27"/>
          <p:cNvSpPr/>
          <p:nvPr/>
        </p:nvSpPr>
        <p:spPr>
          <a:xfrm>
            <a:off x="4699000" y="5080000"/>
            <a:ext cx="2794000" cy="762000"/>
          </a:xfrm>
          <a:prstGeom prst="roundRect">
            <a:avLst>
              <a:gd name="adj" fmla="val 13333"/>
            </a:avLst>
          </a:prstGeom>
          <a:solidFill>
            <a:srgbClr val="000000">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8"/>
          <p:cNvSpPr/>
          <p:nvPr/>
        </p:nvSpPr>
        <p:spPr>
          <a:xfrm>
            <a:off x="4826000" y="51816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8BB78"/>
                </a:solidFill>
                <a:latin typeface="Noto Sans SC"/>
                <a:ea typeface="Noto Sans SC"/>
                <a:cs typeface="Noto Sans SC"/>
                <a:sym typeface="Noto Sans SC"/>
              </a:rPr>
              <a:t>标准化报告输出</a:t>
            </a:r>
            <a:endParaRPr lang="en-US" sz="1100"/>
          </a:p>
        </p:txBody>
      </p:sp>
      <p:sp>
        <p:nvSpPr>
          <p:cNvPr id="29" name="AutoShape 29"/>
          <p:cNvSpPr/>
          <p:nvPr/>
        </p:nvSpPr>
        <p:spPr>
          <a:xfrm>
            <a:off x="4826000" y="5486400"/>
            <a:ext cx="254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ReportGenerator 生成 Bandit 兼容报告。</a:t>
            </a:r>
            <a:endParaRPr lang="en-US" sz="1100"/>
          </a:p>
        </p:txBody>
      </p:sp>
      <p:sp>
        <p:nvSpPr>
          <p:cNvPr id="30" name="AutoShape 30"/>
          <p:cNvSpPr/>
          <p:nvPr/>
        </p:nvSpPr>
        <p:spPr>
          <a:xfrm>
            <a:off x="8128000" y="1524000"/>
            <a:ext cx="3302000" cy="4572000"/>
          </a:xfrm>
          <a:prstGeom prst="roundRect">
            <a:avLst>
              <a:gd name="adj" fmla="val 4615"/>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406400" cy="406400"/>
          </a:xfrm>
          <a:prstGeom prst="rect">
            <a:avLst/>
          </a:prstGeom>
        </p:spPr>
      </p:pic>
      <p:sp>
        <p:nvSpPr>
          <p:cNvPr id="32" name="AutoShape 32"/>
          <p:cNvSpPr/>
          <p:nvPr/>
        </p:nvSpPr>
        <p:spPr>
          <a:xfrm>
            <a:off x="8953500" y="17780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8A169"/>
                </a:solidFill>
                <a:latin typeface="Noto Sans SC"/>
                <a:ea typeface="Noto Sans SC"/>
                <a:cs typeface="Noto Sans SC"/>
                <a:sym typeface="Noto Sans SC"/>
              </a:rPr>
              <a:t>架构设计亮点</a:t>
            </a:r>
            <a:endParaRPr lang="en-US" sz="1100"/>
          </a:p>
        </p:txBody>
      </p:sp>
      <p:cxnSp>
        <p:nvCxnSpPr>
          <p:cNvPr id="33" name="Connector 33"/>
          <p:cNvCxnSpPr/>
          <p:nvPr/>
        </p:nvCxnSpPr>
        <p:spPr>
          <a:xfrm rot="-15626">
            <a:off x="8382014" y="2406650"/>
            <a:ext cx="2794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34" name="AutoShape 34"/>
          <p:cNvSpPr/>
          <p:nvPr/>
        </p:nvSpPr>
        <p:spPr>
          <a:xfrm>
            <a:off x="8382000" y="2667000"/>
            <a:ext cx="2794000" cy="952500"/>
          </a:xfrm>
          <a:prstGeom prst="roundRect">
            <a:avLst>
              <a:gd name="adj" fmla="val 10666"/>
            </a:avLst>
          </a:prstGeom>
          <a:solidFill>
            <a:srgbClr val="38A169">
              <a:alpha val="15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8509000" y="2794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 完美遵循开闭原则</a:t>
            </a:r>
            <a:endParaRPr lang="en-US" sz="1100"/>
          </a:p>
        </p:txBody>
      </p:sp>
      <p:sp>
        <p:nvSpPr>
          <p:cNvPr id="36" name="AutoShape 36"/>
          <p:cNvSpPr/>
          <p:nvPr/>
        </p:nvSpPr>
        <p:spPr>
          <a:xfrm>
            <a:off x="8509000" y="3149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新增检测类型只需继承 BaseChecker，无需修改核心代码。</a:t>
            </a:r>
            <a:endParaRPr lang="en-US" sz="1100"/>
          </a:p>
        </p:txBody>
      </p:sp>
      <p:sp>
        <p:nvSpPr>
          <p:cNvPr id="37" name="AutoShape 37"/>
          <p:cNvSpPr/>
          <p:nvPr/>
        </p:nvSpPr>
        <p:spPr>
          <a:xfrm>
            <a:off x="8382000" y="3746500"/>
            <a:ext cx="2794000" cy="952500"/>
          </a:xfrm>
          <a:prstGeom prst="roundRect">
            <a:avLst>
              <a:gd name="adj" fmla="val 10666"/>
            </a:avLst>
          </a:prstGeom>
          <a:solidFill>
            <a:srgbClr val="38A169">
              <a:alpha val="15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8509000" y="38735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 高度接口兼容性</a:t>
            </a:r>
            <a:endParaRPr lang="en-US" sz="1100"/>
          </a:p>
        </p:txBody>
      </p:sp>
      <p:sp>
        <p:nvSpPr>
          <p:cNvPr id="39" name="AutoShape 39"/>
          <p:cNvSpPr/>
          <p:nvPr/>
        </p:nvSpPr>
        <p:spPr>
          <a:xfrm>
            <a:off x="8509000" y="42291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DetectionResult 完全实现 Bandit Issue 接口，无缝集成。</a:t>
            </a:r>
            <a:endParaRPr lang="en-US" sz="1100"/>
          </a:p>
        </p:txBody>
      </p:sp>
      <p:sp>
        <p:nvSpPr>
          <p:cNvPr id="40" name="AutoShape 40"/>
          <p:cNvSpPr/>
          <p:nvPr/>
        </p:nvSpPr>
        <p:spPr>
          <a:xfrm>
            <a:off x="8382000" y="4826000"/>
            <a:ext cx="2794000" cy="952500"/>
          </a:xfrm>
          <a:prstGeom prst="roundRect">
            <a:avLst>
              <a:gd name="adj" fmla="val 10666"/>
            </a:avLst>
          </a:prstGeom>
          <a:solidFill>
            <a:srgbClr val="38A169">
              <a:alpha val="15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8509000" y="4953000"/>
            <a:ext cx="2540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FFFFF"/>
                </a:solidFill>
                <a:latin typeface="Noto Sans SC"/>
                <a:ea typeface="Noto Sans SC"/>
                <a:cs typeface="Noto Sans SC"/>
                <a:sym typeface="Noto Sans SC"/>
              </a:rPr>
              <a:t>✅ 核心逻辑低耦合</a:t>
            </a:r>
            <a:endParaRPr lang="en-US" sz="1100"/>
          </a:p>
        </p:txBody>
      </p:sp>
      <p:sp>
        <p:nvSpPr>
          <p:cNvPr id="42" name="AutoShape 42"/>
          <p:cNvSpPr/>
          <p:nvPr/>
        </p:nvSpPr>
        <p:spPr>
          <a:xfrm>
            <a:off x="8509000" y="5308600"/>
            <a:ext cx="254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CBD5E1"/>
                </a:solidFill>
                <a:latin typeface="Noto Sans SC"/>
                <a:ea typeface="Noto Sans SC"/>
                <a:cs typeface="Noto Sans SC"/>
                <a:sym typeface="Noto Sans SC"/>
              </a:rPr>
              <a:t>熵值/上下文分析独立为工具类，职责单一，易于维护。</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量化验收标准与交付计划</a:t>
            </a:r>
            <a:endParaRPr lang="en-US" sz="1100"/>
          </a:p>
        </p:txBody>
      </p:sp>
      <p:sp>
        <p:nvSpPr>
          <p:cNvPr id="4" name="AutoShape 4"/>
          <p:cNvSpPr/>
          <p:nvPr/>
        </p:nvSpPr>
        <p:spPr>
          <a:xfrm>
            <a:off x="762000" y="1524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651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敏感信息类型覆盖率</a:t>
            </a:r>
            <a:endParaRPr lang="en-US" sz="1100"/>
          </a:p>
        </p:txBody>
      </p:sp>
      <p:sp>
        <p:nvSpPr>
          <p:cNvPr id="6" name="AutoShape 6"/>
          <p:cNvSpPr/>
          <p:nvPr/>
        </p:nvSpPr>
        <p:spPr>
          <a:xfrm>
            <a:off x="952500" y="2032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8A169"/>
                </a:solidFill>
                <a:latin typeface="Noto Sans SC"/>
                <a:ea typeface="Noto Sans SC"/>
                <a:cs typeface="Noto Sans SC"/>
                <a:sym typeface="Noto Sans SC"/>
              </a:rPr>
              <a:t>≥ 90%</a:t>
            </a:r>
            <a:endParaRPr lang="en-US" sz="1100"/>
          </a:p>
        </p:txBody>
      </p:sp>
      <p:sp>
        <p:nvSpPr>
          <p:cNvPr id="7" name="AutoShape 7"/>
          <p:cNvSpPr/>
          <p:nvPr/>
        </p:nvSpPr>
        <p:spPr>
          <a:xfrm>
            <a:off x="952500" y="2540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100个测试用例检测 ≥90个</a:t>
            </a:r>
            <a:endParaRPr lang="en-US" sz="1100"/>
          </a:p>
        </p:txBody>
      </p:sp>
      <p:sp>
        <p:nvSpPr>
          <p:cNvPr id="8" name="AutoShape 8"/>
          <p:cNvSpPr/>
          <p:nvPr/>
        </p:nvSpPr>
        <p:spPr>
          <a:xfrm>
            <a:off x="3429000" y="1524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619500" y="1651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混合用例误报率</a:t>
            </a:r>
            <a:endParaRPr lang="en-US" sz="1100"/>
          </a:p>
        </p:txBody>
      </p:sp>
      <p:sp>
        <p:nvSpPr>
          <p:cNvPr id="10" name="AutoShape 10"/>
          <p:cNvSpPr/>
          <p:nvPr/>
        </p:nvSpPr>
        <p:spPr>
          <a:xfrm>
            <a:off x="3619500" y="2032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38A169"/>
                </a:solidFill>
                <a:latin typeface="Noto Sans SC"/>
                <a:ea typeface="Noto Sans SC"/>
                <a:cs typeface="Noto Sans SC"/>
                <a:sym typeface="Noto Sans SC"/>
              </a:rPr>
              <a:t>≤ 5%</a:t>
            </a:r>
            <a:endParaRPr lang="en-US" sz="1100" dirty="0"/>
          </a:p>
        </p:txBody>
      </p:sp>
      <p:sp>
        <p:nvSpPr>
          <p:cNvPr id="11" name="AutoShape 11"/>
          <p:cNvSpPr/>
          <p:nvPr/>
        </p:nvSpPr>
        <p:spPr>
          <a:xfrm>
            <a:off x="3619500" y="2540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200个混合用例误报 ≤10个</a:t>
            </a:r>
            <a:endParaRPr lang="en-US" sz="1100"/>
          </a:p>
        </p:txBody>
      </p:sp>
      <p:sp>
        <p:nvSpPr>
          <p:cNvPr id="12" name="AutoShape 12"/>
          <p:cNvSpPr/>
          <p:nvPr/>
        </p:nvSpPr>
        <p:spPr>
          <a:xfrm>
            <a:off x="762000" y="3175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952500" y="3302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混合用例漏报率</a:t>
            </a:r>
            <a:endParaRPr lang="en-US" sz="1100"/>
          </a:p>
        </p:txBody>
      </p:sp>
      <p:sp>
        <p:nvSpPr>
          <p:cNvPr id="14" name="AutoShape 14"/>
          <p:cNvSpPr/>
          <p:nvPr/>
        </p:nvSpPr>
        <p:spPr>
          <a:xfrm>
            <a:off x="952500" y="3683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8A169"/>
                </a:solidFill>
                <a:latin typeface="Noto Sans SC"/>
                <a:ea typeface="Noto Sans SC"/>
                <a:cs typeface="Noto Sans SC"/>
                <a:sym typeface="Noto Sans SC"/>
              </a:rPr>
              <a:t>≤ 3%</a:t>
            </a:r>
            <a:endParaRPr lang="en-US" sz="1100"/>
          </a:p>
        </p:txBody>
      </p:sp>
      <p:sp>
        <p:nvSpPr>
          <p:cNvPr id="15" name="AutoShape 15"/>
          <p:cNvSpPr/>
          <p:nvPr/>
        </p:nvSpPr>
        <p:spPr>
          <a:xfrm>
            <a:off x="952500" y="4191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200个混合用例漏报 ≤6个</a:t>
            </a:r>
            <a:endParaRPr lang="en-US" sz="1100"/>
          </a:p>
        </p:txBody>
      </p:sp>
      <p:sp>
        <p:nvSpPr>
          <p:cNvPr id="16" name="AutoShape 16"/>
          <p:cNvSpPr/>
          <p:nvPr/>
        </p:nvSpPr>
        <p:spPr>
          <a:xfrm>
            <a:off x="3429000" y="3175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3619500" y="3302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代码扫描速度</a:t>
            </a:r>
            <a:endParaRPr lang="en-US" sz="1100"/>
          </a:p>
        </p:txBody>
      </p:sp>
      <p:sp>
        <p:nvSpPr>
          <p:cNvPr id="18" name="AutoShape 18"/>
          <p:cNvSpPr/>
          <p:nvPr/>
        </p:nvSpPr>
        <p:spPr>
          <a:xfrm>
            <a:off x="3619500" y="3683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8A169"/>
                </a:solidFill>
                <a:latin typeface="Noto Sans SC"/>
                <a:ea typeface="Noto Sans SC"/>
                <a:cs typeface="Noto Sans SC"/>
                <a:sym typeface="Noto Sans SC"/>
              </a:rPr>
              <a:t>≥ 1000 行/s</a:t>
            </a:r>
            <a:endParaRPr lang="en-US" sz="1100"/>
          </a:p>
        </p:txBody>
      </p:sp>
      <p:sp>
        <p:nvSpPr>
          <p:cNvPr id="19" name="AutoShape 19"/>
          <p:cNvSpPr/>
          <p:nvPr/>
        </p:nvSpPr>
        <p:spPr>
          <a:xfrm>
            <a:off x="3619500" y="4191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10万行代码全量扫描测试</a:t>
            </a:r>
            <a:endParaRPr lang="en-US" sz="1100"/>
          </a:p>
        </p:txBody>
      </p:sp>
      <p:sp>
        <p:nvSpPr>
          <p:cNvPr id="20" name="AutoShape 20"/>
          <p:cNvSpPr/>
          <p:nvPr/>
        </p:nvSpPr>
        <p:spPr>
          <a:xfrm>
            <a:off x="762000" y="4826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52500" y="4953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运行内存占用</a:t>
            </a:r>
            <a:endParaRPr lang="en-US" sz="1100"/>
          </a:p>
        </p:txBody>
      </p:sp>
      <p:sp>
        <p:nvSpPr>
          <p:cNvPr id="22" name="AutoShape 22"/>
          <p:cNvSpPr/>
          <p:nvPr/>
        </p:nvSpPr>
        <p:spPr>
          <a:xfrm>
            <a:off x="952500" y="5334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38A169"/>
                </a:solidFill>
                <a:latin typeface="Noto Sans SC"/>
                <a:ea typeface="Noto Sans SC"/>
                <a:cs typeface="Noto Sans SC"/>
                <a:sym typeface="Noto Sans SC"/>
              </a:rPr>
              <a:t>≤ 512 MB</a:t>
            </a:r>
            <a:endParaRPr lang="en-US" sz="1100"/>
          </a:p>
        </p:txBody>
      </p:sp>
      <p:sp>
        <p:nvSpPr>
          <p:cNvPr id="23" name="AutoShape 23"/>
          <p:cNvSpPr/>
          <p:nvPr/>
        </p:nvSpPr>
        <p:spPr>
          <a:xfrm>
            <a:off x="952500" y="5842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连续3次扫描无明显内存递增</a:t>
            </a:r>
            <a:endParaRPr lang="en-US" sz="1100"/>
          </a:p>
        </p:txBody>
      </p:sp>
      <p:sp>
        <p:nvSpPr>
          <p:cNvPr id="24" name="AutoShape 24"/>
          <p:cNvSpPr/>
          <p:nvPr/>
        </p:nvSpPr>
        <p:spPr>
          <a:xfrm>
            <a:off x="3429000" y="4826000"/>
            <a:ext cx="2476500" cy="1397000"/>
          </a:xfrm>
          <a:prstGeom prst="roundRect">
            <a:avLst>
              <a:gd name="adj" fmla="val 7272"/>
            </a:avLst>
          </a:prstGeom>
          <a:solidFill>
            <a:srgbClr val="FFFFFF">
              <a:alpha val="8000"/>
            </a:srgbClr>
          </a:solidFill>
          <a:ln w="12700" cap="flat" cmpd="sng">
            <a:solidFill>
              <a:srgbClr val="38A169">
                <a:alpha val="40000"/>
              </a:srgbClr>
            </a:solid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3619500" y="4953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5E7EB">
                    <a:alpha val="90196"/>
                  </a:srgbClr>
                </a:solidFill>
                <a:latin typeface="Noto Sans SC"/>
                <a:ea typeface="Noto Sans SC"/>
                <a:cs typeface="Noto Sans SC"/>
                <a:sym typeface="Noto Sans SC"/>
              </a:rPr>
              <a:t>开发环境兼容性</a:t>
            </a:r>
            <a:endParaRPr lang="en-US" sz="1100"/>
          </a:p>
        </p:txBody>
      </p:sp>
      <p:sp>
        <p:nvSpPr>
          <p:cNvPr id="26" name="AutoShape 26"/>
          <p:cNvSpPr/>
          <p:nvPr/>
        </p:nvSpPr>
        <p:spPr>
          <a:xfrm>
            <a:off x="3619500" y="5334000"/>
            <a:ext cx="2095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8A169"/>
                </a:solidFill>
                <a:latin typeface="Noto Sans SC"/>
                <a:ea typeface="Noto Sans SC"/>
                <a:cs typeface="Noto Sans SC"/>
                <a:sym typeface="Noto Sans SC"/>
              </a:rPr>
              <a:t>Py3.10+ / Bandit</a:t>
            </a:r>
            <a:endParaRPr lang="en-US" sz="1100"/>
          </a:p>
        </p:txBody>
      </p:sp>
      <p:sp>
        <p:nvSpPr>
          <p:cNvPr id="27" name="AutoShape 27"/>
          <p:cNvSpPr/>
          <p:nvPr/>
        </p:nvSpPr>
        <p:spPr>
          <a:xfrm>
            <a:off x="3619500" y="5842000"/>
            <a:ext cx="20955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000" b="0" i="0" u="none" strike="noStrike">
                <a:solidFill>
                  <a:srgbClr val="9CA3AF"/>
                </a:solidFill>
                <a:latin typeface="Noto Sans SC"/>
                <a:ea typeface="Noto Sans SC"/>
                <a:cs typeface="Noto Sans SC"/>
                <a:sym typeface="Noto Sans SC"/>
              </a:rPr>
              <a:t>3×3 版本矩阵全量测试通过</a:t>
            </a:r>
            <a:endParaRPr lang="en-US" sz="1100"/>
          </a:p>
        </p:txBody>
      </p:sp>
      <p:sp>
        <p:nvSpPr>
          <p:cNvPr id="28" name="AutoShape 28"/>
          <p:cNvSpPr/>
          <p:nvPr/>
        </p:nvSpPr>
        <p:spPr>
          <a:xfrm>
            <a:off x="6096000" y="1524000"/>
            <a:ext cx="4953000" cy="4699000"/>
          </a:xfrm>
          <a:prstGeom prst="roundRect">
            <a:avLst>
              <a:gd name="adj" fmla="val 3243"/>
            </a:avLst>
          </a:prstGeom>
          <a:solidFill>
            <a:srgbClr val="1E293B">
              <a:alpha val="60000"/>
            </a:srgbClr>
          </a:solidFill>
          <a:ln w="12700" cap="flat" cmpd="sng">
            <a:solidFill>
              <a:srgbClr val="38A169">
                <a:alpha val="2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350000" y="17145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关键里程碑计划 (6周)</a:t>
            </a:r>
            <a:endParaRPr lang="en-US" sz="1100"/>
          </a:p>
        </p:txBody>
      </p:sp>
      <p:sp>
        <p:nvSpPr>
          <p:cNvPr id="30" name="AutoShape 30"/>
          <p:cNvSpPr/>
          <p:nvPr/>
        </p:nvSpPr>
        <p:spPr>
          <a:xfrm>
            <a:off x="6350000" y="2286000"/>
            <a:ext cx="4445000" cy="889000"/>
          </a:xfrm>
          <a:prstGeom prst="roundRect">
            <a:avLst>
              <a:gd name="adj" fmla="val 857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350000" y="2286000"/>
            <a:ext cx="50800" cy="889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540500" y="2413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8A169"/>
                </a:solidFill>
                <a:latin typeface="Noto Sans SC"/>
                <a:ea typeface="Noto Sans SC"/>
                <a:cs typeface="Noto Sans SC"/>
                <a:sym typeface="Noto Sans SC"/>
              </a:rPr>
              <a:t>PHASE 01 · 第 6-7 周</a:t>
            </a:r>
            <a:endParaRPr lang="en-US" sz="1100"/>
          </a:p>
        </p:txBody>
      </p:sp>
      <p:sp>
        <p:nvSpPr>
          <p:cNvPr id="33" name="AutoShape 33"/>
          <p:cNvSpPr/>
          <p:nvPr/>
        </p:nvSpPr>
        <p:spPr>
          <a:xfrm>
            <a:off x="6540500" y="2794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1D5DB"/>
                </a:solidFill>
                <a:latin typeface="Noto Sans SC"/>
                <a:ea typeface="Noto Sans SC"/>
                <a:cs typeface="Noto Sans SC"/>
                <a:sym typeface="Noto Sans SC"/>
              </a:rPr>
              <a:t>需求分析与技术调研完成，输出详细原型设计与技术方案。</a:t>
            </a:r>
            <a:endParaRPr lang="en-US" sz="1100"/>
          </a:p>
        </p:txBody>
      </p:sp>
      <p:sp>
        <p:nvSpPr>
          <p:cNvPr id="34" name="AutoShape 34"/>
          <p:cNvSpPr/>
          <p:nvPr/>
        </p:nvSpPr>
        <p:spPr>
          <a:xfrm>
            <a:off x="6350000" y="3302000"/>
            <a:ext cx="4445000" cy="889000"/>
          </a:xfrm>
          <a:prstGeom prst="roundRect">
            <a:avLst>
              <a:gd name="adj" fmla="val 857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6350000" y="3302000"/>
            <a:ext cx="50800" cy="889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6" name="AutoShape 36"/>
          <p:cNvSpPr/>
          <p:nvPr/>
        </p:nvSpPr>
        <p:spPr>
          <a:xfrm>
            <a:off x="6540500" y="3429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8A169"/>
                </a:solidFill>
                <a:latin typeface="Noto Sans SC"/>
                <a:ea typeface="Noto Sans SC"/>
                <a:cs typeface="Noto Sans SC"/>
                <a:sym typeface="Noto Sans SC"/>
              </a:rPr>
              <a:t>PHASE 02 · 第 8-9 周</a:t>
            </a:r>
            <a:endParaRPr lang="en-US" sz="1100"/>
          </a:p>
        </p:txBody>
      </p:sp>
      <p:sp>
        <p:nvSpPr>
          <p:cNvPr id="37" name="AutoShape 37"/>
          <p:cNvSpPr/>
          <p:nvPr/>
        </p:nvSpPr>
        <p:spPr>
          <a:xfrm>
            <a:off x="6540500" y="3810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1D5DB"/>
                </a:solidFill>
                <a:latin typeface="Noto Sans SC"/>
                <a:ea typeface="Noto Sans SC"/>
                <a:cs typeface="Noto Sans SC"/>
                <a:sym typeface="Noto Sans SC"/>
              </a:rPr>
              <a:t>核心模块开发：完成AST语法解析器构建与核心规则引擎实现。</a:t>
            </a:r>
            <a:endParaRPr lang="en-US" sz="1100"/>
          </a:p>
        </p:txBody>
      </p:sp>
      <p:sp>
        <p:nvSpPr>
          <p:cNvPr id="38" name="AutoShape 38"/>
          <p:cNvSpPr/>
          <p:nvPr/>
        </p:nvSpPr>
        <p:spPr>
          <a:xfrm>
            <a:off x="6350000" y="4318000"/>
            <a:ext cx="4445000" cy="889000"/>
          </a:xfrm>
          <a:prstGeom prst="roundRect">
            <a:avLst>
              <a:gd name="adj" fmla="val 8571"/>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39" name="AutoShape 39"/>
          <p:cNvSpPr/>
          <p:nvPr/>
        </p:nvSpPr>
        <p:spPr>
          <a:xfrm>
            <a:off x="6350000" y="4318000"/>
            <a:ext cx="50800" cy="889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6540500" y="44450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8A169"/>
                </a:solidFill>
                <a:latin typeface="Noto Sans SC"/>
                <a:ea typeface="Noto Sans SC"/>
                <a:cs typeface="Noto Sans SC"/>
                <a:sym typeface="Noto Sans SC"/>
              </a:rPr>
              <a:t>PHASE 03 · 第 10 周</a:t>
            </a:r>
            <a:endParaRPr lang="en-US" sz="1100"/>
          </a:p>
        </p:txBody>
      </p:sp>
      <p:sp>
        <p:nvSpPr>
          <p:cNvPr id="41" name="AutoShape 41"/>
          <p:cNvSpPr/>
          <p:nvPr/>
        </p:nvSpPr>
        <p:spPr>
          <a:xfrm>
            <a:off x="6540500" y="4826000"/>
            <a:ext cx="4064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1D5DB"/>
                </a:solidFill>
                <a:latin typeface="Noto Sans SC"/>
                <a:ea typeface="Noto Sans SC"/>
                <a:cs typeface="Noto Sans SC"/>
                <a:sym typeface="Noto Sans SC"/>
              </a:rPr>
              <a:t>集成测试与调优：核心功能联调，针对性能瓶颈进行专项优化。</a:t>
            </a:r>
            <a:endParaRPr lang="en-US" sz="1100"/>
          </a:p>
        </p:txBody>
      </p:sp>
      <p:sp>
        <p:nvSpPr>
          <p:cNvPr id="42" name="AutoShape 42"/>
          <p:cNvSpPr/>
          <p:nvPr/>
        </p:nvSpPr>
        <p:spPr>
          <a:xfrm>
            <a:off x="6350000" y="5334000"/>
            <a:ext cx="4445000" cy="762000"/>
          </a:xfrm>
          <a:prstGeom prst="roundRect">
            <a:avLst>
              <a:gd name="adj" fmla="val 10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6350000" y="5334000"/>
            <a:ext cx="50800" cy="762000"/>
          </a:xfrm>
          <a:prstGeom prst="roundRect">
            <a:avLst>
              <a:gd name="adj" fmla="val 0"/>
            </a:avLst>
          </a:prstGeom>
          <a:solidFill>
            <a:srgbClr val="38A16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6540500" y="54356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38A169"/>
                </a:solidFill>
                <a:latin typeface="Noto Sans SC"/>
                <a:ea typeface="Noto Sans SC"/>
                <a:cs typeface="Noto Sans SC"/>
                <a:sym typeface="Noto Sans SC"/>
              </a:rPr>
              <a:t>PHASE 04 · 第 11-12 周</a:t>
            </a:r>
            <a:endParaRPr lang="en-US" sz="1100"/>
          </a:p>
        </p:txBody>
      </p:sp>
      <p:sp>
        <p:nvSpPr>
          <p:cNvPr id="45" name="AutoShape 45"/>
          <p:cNvSpPr/>
          <p:nvPr/>
        </p:nvSpPr>
        <p:spPr>
          <a:xfrm>
            <a:off x="6540500" y="5740400"/>
            <a:ext cx="4064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100" b="0" i="0" u="none" strike="noStrike">
                <a:solidFill>
                  <a:srgbClr val="D1D5DB"/>
                </a:solidFill>
                <a:latin typeface="Noto Sans SC"/>
                <a:ea typeface="Noto Sans SC"/>
                <a:cs typeface="Noto Sans SC"/>
                <a:sym typeface="Noto Sans SC"/>
              </a:rPr>
              <a:t>扩展功能开发、文档完善、Bug修复与最终交付验收。</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635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让代码安全从“事后补救”变为“事前预防”</a:t>
            </a:r>
            <a:endParaRPr lang="en-US" sz="1100"/>
          </a:p>
        </p:txBody>
      </p:sp>
      <p:sp>
        <p:nvSpPr>
          <p:cNvPr id="4" name="AutoShape 4"/>
          <p:cNvSpPr/>
          <p:nvPr/>
        </p:nvSpPr>
        <p:spPr>
          <a:xfrm>
            <a:off x="762000" y="1524000"/>
            <a:ext cx="3302000" cy="2032000"/>
          </a:xfrm>
          <a:prstGeom prst="roundRect">
            <a:avLst>
              <a:gd name="adj" fmla="val 7500"/>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1778000"/>
            <a:ext cx="508000" cy="508000"/>
          </a:xfrm>
          <a:prstGeom prst="rect">
            <a:avLst/>
          </a:prstGeom>
        </p:spPr>
      </p:pic>
      <p:sp>
        <p:nvSpPr>
          <p:cNvPr id="6" name="AutoShape 6"/>
          <p:cNvSpPr/>
          <p:nvPr/>
        </p:nvSpPr>
        <p:spPr>
          <a:xfrm>
            <a:off x="1778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对开发者</a:t>
            </a:r>
            <a:endParaRPr lang="en-US" sz="1100"/>
          </a:p>
        </p:txBody>
      </p:sp>
      <p:sp>
        <p:nvSpPr>
          <p:cNvPr id="7" name="AutoShape 7"/>
          <p:cNvSpPr/>
          <p:nvPr/>
        </p:nvSpPr>
        <p:spPr>
          <a:xfrm>
            <a:off x="1016000" y="2540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E5E7EB">
                    <a:alpha val="80000"/>
                  </a:srgbClr>
                </a:solidFill>
                <a:latin typeface="Noto Sans SC"/>
                <a:ea typeface="Noto Sans SC"/>
                <a:cs typeface="Noto Sans SC"/>
                <a:sym typeface="Noto Sans SC"/>
              </a:rPr>
              <a:t>提交前 5 分钟自动扫描，拦截密钥、证书等敏感信息，避免泄露至代码仓库。</a:t>
            </a:r>
            <a:endParaRPr lang="en-US" sz="1100"/>
          </a:p>
        </p:txBody>
      </p:sp>
      <p:sp>
        <p:nvSpPr>
          <p:cNvPr id="8" name="AutoShape 8"/>
          <p:cNvSpPr/>
          <p:nvPr/>
        </p:nvSpPr>
        <p:spPr>
          <a:xfrm>
            <a:off x="4445000" y="1524000"/>
            <a:ext cx="3302000" cy="2032000"/>
          </a:xfrm>
          <a:prstGeom prst="roundRect">
            <a:avLst>
              <a:gd name="adj" fmla="val 7500"/>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99000" y="1778000"/>
            <a:ext cx="508000" cy="508000"/>
          </a:xfrm>
          <a:prstGeom prst="rect">
            <a:avLst/>
          </a:prstGeom>
        </p:spPr>
      </p:pic>
      <p:sp>
        <p:nvSpPr>
          <p:cNvPr id="10" name="AutoShape 10"/>
          <p:cNvSpPr/>
          <p:nvPr/>
        </p:nvSpPr>
        <p:spPr>
          <a:xfrm>
            <a:off x="5461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对企业</a:t>
            </a:r>
            <a:endParaRPr lang="en-US" sz="1100"/>
          </a:p>
        </p:txBody>
      </p:sp>
      <p:sp>
        <p:nvSpPr>
          <p:cNvPr id="11" name="AutoShape 11"/>
          <p:cNvSpPr/>
          <p:nvPr/>
        </p:nvSpPr>
        <p:spPr>
          <a:xfrm>
            <a:off x="4699000" y="2540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E5E7EB">
                    <a:alpha val="80000"/>
                  </a:srgbClr>
                </a:solidFill>
                <a:latin typeface="Noto Sans SC"/>
                <a:ea typeface="Noto Sans SC"/>
                <a:cs typeface="Noto Sans SC"/>
                <a:sym typeface="Noto Sans SC"/>
              </a:rPr>
              <a:t>满足等保 2.0 / GDPR 合规审计要求，从源头规避数据泄露带来的千万级罚款风险。</a:t>
            </a:r>
            <a:endParaRPr lang="en-US" sz="1100"/>
          </a:p>
        </p:txBody>
      </p:sp>
      <p:sp>
        <p:nvSpPr>
          <p:cNvPr id="12" name="AutoShape 12"/>
          <p:cNvSpPr/>
          <p:nvPr/>
        </p:nvSpPr>
        <p:spPr>
          <a:xfrm>
            <a:off x="8128000" y="1524000"/>
            <a:ext cx="3302000" cy="2032000"/>
          </a:xfrm>
          <a:prstGeom prst="roundRect">
            <a:avLst>
              <a:gd name="adj" fmla="val 7500"/>
            </a:avLst>
          </a:prstGeom>
          <a:solidFill>
            <a:srgbClr val="FFFFFF">
              <a:alpha val="8000"/>
            </a:srgbClr>
          </a:solidFill>
          <a:ln w="12700" cap="flat" cmpd="sng">
            <a:solidFill>
              <a:srgbClr val="38A169">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82000" y="1778000"/>
            <a:ext cx="508000" cy="508000"/>
          </a:xfrm>
          <a:prstGeom prst="rect">
            <a:avLst/>
          </a:prstGeom>
        </p:spPr>
      </p:pic>
      <p:sp>
        <p:nvSpPr>
          <p:cNvPr id="14" name="AutoShape 14"/>
          <p:cNvSpPr/>
          <p:nvPr/>
        </p:nvSpPr>
        <p:spPr>
          <a:xfrm>
            <a:off x="9144000" y="1778000"/>
            <a:ext cx="203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对开源社区</a:t>
            </a:r>
            <a:endParaRPr lang="en-US" sz="1100"/>
          </a:p>
        </p:txBody>
      </p:sp>
      <p:sp>
        <p:nvSpPr>
          <p:cNvPr id="15" name="AutoShape 15"/>
          <p:cNvSpPr/>
          <p:nvPr/>
        </p:nvSpPr>
        <p:spPr>
          <a:xfrm>
            <a:off x="8382000" y="2540000"/>
            <a:ext cx="2794000" cy="762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200" b="0" i="0" u="none" strike="noStrike">
                <a:solidFill>
                  <a:srgbClr val="E5E7EB">
                    <a:alpha val="80000"/>
                  </a:srgbClr>
                </a:solidFill>
                <a:latin typeface="Noto Sans SC"/>
                <a:ea typeface="Noto Sans SC"/>
                <a:cs typeface="Noto Sans SC"/>
                <a:sym typeface="Noto Sans SC"/>
              </a:rPr>
              <a:t>填补 Bandit #1338 号核心功能空白，为全球百万 Python 开发者提供标准化的安全基建。</a:t>
            </a:r>
            <a:endParaRPr lang="en-US" sz="1100"/>
          </a:p>
        </p:txBody>
      </p:sp>
      <p:sp>
        <p:nvSpPr>
          <p:cNvPr id="16" name="AutoShape 16"/>
          <p:cNvSpPr/>
          <p:nvPr/>
        </p:nvSpPr>
        <p:spPr>
          <a:xfrm>
            <a:off x="762000" y="3937000"/>
            <a:ext cx="5207000" cy="1905000"/>
          </a:xfrm>
          <a:prstGeom prst="roundRect">
            <a:avLst>
              <a:gd name="adj" fmla="val 800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191000"/>
            <a:ext cx="457200" cy="457200"/>
          </a:xfrm>
          <a:prstGeom prst="rect">
            <a:avLst/>
          </a:prstGeom>
        </p:spPr>
      </p:pic>
      <p:sp>
        <p:nvSpPr>
          <p:cNvPr id="18" name="AutoShape 18"/>
          <p:cNvSpPr/>
          <p:nvPr/>
        </p:nvSpPr>
        <p:spPr>
          <a:xfrm>
            <a:off x="1651000" y="419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核心开源计划</a:t>
            </a:r>
            <a:endParaRPr lang="en-US" sz="1100"/>
          </a:p>
        </p:txBody>
      </p:sp>
      <p:sp>
        <p:nvSpPr>
          <p:cNvPr id="19" name="AutoShape 19"/>
          <p:cNvSpPr/>
          <p:nvPr/>
        </p:nvSpPr>
        <p:spPr>
          <a:xfrm>
            <a:off x="1016000" y="4826000"/>
            <a:ext cx="4699000" cy="889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200" b="0" i="0" u="none" strike="noStrike">
                <a:solidFill>
                  <a:srgbClr val="E5E7EB">
                    <a:alpha val="90196"/>
                  </a:srgbClr>
                </a:solidFill>
                <a:latin typeface="Noto Sans SC"/>
                <a:ea typeface="Noto Sans SC"/>
                <a:cs typeface="Noto Sans SC"/>
                <a:sym typeface="Noto Sans SC"/>
              </a:rPr>
              <a:t>✅ 采用 Apache 2.0 宽松许可证，完全开放核心代码</a:t>
            </a:r>
            <a:endParaRPr lang="en-US" sz="1100"/>
          </a:p>
          <a:p>
            <a:pPr indent="0" algn="l">
              <a:lnSpc>
                <a:spcPct val="125000"/>
              </a:lnSpc>
            </a:pPr>
            <a:r>
              <a:rPr lang="en-US" sz="1200" b="0" i="0" u="none" strike="noStrike">
                <a:solidFill>
                  <a:srgbClr val="E5E7EB">
                    <a:alpha val="90196"/>
                  </a:srgbClr>
                </a:solidFill>
                <a:latin typeface="Noto Sans SC"/>
                <a:ea typeface="Noto Sans SC"/>
                <a:cs typeface="Noto Sans SC"/>
                <a:sym typeface="Noto Sans SC"/>
              </a:rPr>
              <a:t>✅ 提供完整的开发者文档与生产环境部署示例</a:t>
            </a:r>
          </a:p>
          <a:p>
            <a:pPr indent="0" algn="l">
              <a:lnSpc>
                <a:spcPct val="125000"/>
              </a:lnSpc>
            </a:pPr>
            <a:r>
              <a:rPr lang="en-US" sz="1200" b="0" i="0" u="none" strike="noStrike">
                <a:solidFill>
                  <a:srgbClr val="E5E7EB">
                    <a:alpha val="90196"/>
                  </a:srgbClr>
                </a:solidFill>
                <a:latin typeface="Noto Sans SC"/>
                <a:ea typeface="Noto Sans SC"/>
                <a:cs typeface="Noto Sans SC"/>
                <a:sym typeface="Noto Sans SC"/>
              </a:rPr>
              <a:t>✅ 积极 Pull Request，将核心能力回馈至 Bandit 上游社区</a:t>
            </a:r>
          </a:p>
        </p:txBody>
      </p:sp>
      <p:sp>
        <p:nvSpPr>
          <p:cNvPr id="20" name="AutoShape 20"/>
          <p:cNvSpPr/>
          <p:nvPr/>
        </p:nvSpPr>
        <p:spPr>
          <a:xfrm>
            <a:off x="6223000" y="3937000"/>
            <a:ext cx="4953000" cy="1905000"/>
          </a:xfrm>
          <a:prstGeom prst="roundRect">
            <a:avLst>
              <a:gd name="adj" fmla="val 8000"/>
            </a:avLst>
          </a:prstGeom>
          <a:solidFill>
            <a:srgbClr val="38A169">
              <a:alpha val="20000"/>
            </a:srgbClr>
          </a:solidFill>
          <a:ln w="12700" cap="flat" cmpd="sng">
            <a:solidFill>
              <a:srgbClr val="38A169">
                <a:alpha val="60000"/>
              </a:srgbClr>
            </a:solid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4191000"/>
            <a:ext cx="457200" cy="457200"/>
          </a:xfrm>
          <a:prstGeom prst="rect">
            <a:avLst/>
          </a:prstGeom>
        </p:spPr>
      </p:pic>
      <p:sp>
        <p:nvSpPr>
          <p:cNvPr id="22" name="AutoShape 22"/>
          <p:cNvSpPr/>
          <p:nvPr/>
        </p:nvSpPr>
        <p:spPr>
          <a:xfrm>
            <a:off x="7112000" y="419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项目愿景目标</a:t>
            </a:r>
            <a:endParaRPr lang="en-US" sz="1100"/>
          </a:p>
        </p:txBody>
      </p:sp>
      <p:sp>
        <p:nvSpPr>
          <p:cNvPr id="23" name="AutoShape 23"/>
          <p:cNvSpPr/>
          <p:nvPr/>
        </p:nvSpPr>
        <p:spPr>
          <a:xfrm>
            <a:off x="6477000" y="4826000"/>
            <a:ext cx="4445000" cy="889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300" b="1" i="0" u="none" strike="noStrike">
                <a:solidFill>
                  <a:srgbClr val="FFFFFF">
                    <a:alpha val="90196"/>
                  </a:srgbClr>
                </a:solidFill>
                <a:latin typeface="Noto Sans SC"/>
                <a:ea typeface="Noto Sans SC"/>
                <a:cs typeface="Noto Sans SC"/>
                <a:sym typeface="Noto Sans SC"/>
              </a:rPr>
              <a:t>“用 6 周时间，打磨出一款让开发者安心、企业放心的自动化代码安全检测利器。”</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0" y="2032000"/>
            <a:ext cx="12192000" cy="889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800" b="1" i="0" u="none" strike="noStrike">
                <a:solidFill>
                  <a:srgbClr val="FFFFFF"/>
                </a:solidFill>
                <a:latin typeface="Noto Sans SC"/>
                <a:ea typeface="Noto Sans SC"/>
                <a:cs typeface="Noto Sans SC"/>
                <a:sym typeface="Noto Sans SC"/>
              </a:rPr>
              <a:t>Q&amp;A</a:t>
            </a:r>
            <a:endParaRPr lang="en-US" sz="1100"/>
          </a:p>
        </p:txBody>
      </p:sp>
      <p:sp>
        <p:nvSpPr>
          <p:cNvPr id="4" name="AutoShape 4"/>
          <p:cNvSpPr/>
          <p:nvPr/>
        </p:nvSpPr>
        <p:spPr>
          <a:xfrm>
            <a:off x="0" y="3175000"/>
            <a:ext cx="12192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38A169"/>
                </a:solidFill>
                <a:latin typeface="Noto Sans SC"/>
                <a:ea typeface="Noto Sans SC"/>
                <a:cs typeface="Noto Sans SC"/>
                <a:sym typeface="Noto Sans SC"/>
              </a:rPr>
              <a:t>感谢聆听</a:t>
            </a:r>
            <a:endParaRPr lang="en-US" sz="1100"/>
          </a:p>
        </p:txBody>
      </p:sp>
      <p:sp>
        <p:nvSpPr>
          <p:cNvPr id="5" name="AutoShape 5"/>
          <p:cNvSpPr/>
          <p:nvPr/>
        </p:nvSpPr>
        <p:spPr>
          <a:xfrm>
            <a:off x="0" y="469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alpha val="80000"/>
                  </a:srgbClr>
                </a:solidFill>
                <a:latin typeface="Noto Sans SC"/>
                <a:ea typeface="Noto Sans SC"/>
                <a:cs typeface="Noto Sans SC"/>
                <a:sym typeface="Noto Sans SC"/>
              </a:rPr>
              <a:t>THANKS FOR LISTENING</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1038</Words>
  <Application>Microsoft Office PowerPoint</Application>
  <PresentationFormat>宽屏</PresentationFormat>
  <Paragraphs>198</Paragraphs>
  <Slides>10</Slides>
  <Notes>10</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10</vt:i4>
      </vt:variant>
    </vt:vector>
  </HeadingPairs>
  <TitlesOfParts>
    <vt:vector size="14"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Jack Shen</cp:lastModifiedBy>
  <cp:revision>1</cp:revision>
  <dcterms:modified xsi:type="dcterms:W3CDTF">2026-04-20T08:34:01Z</dcterms:modified>
</cp:coreProperties>
</file>